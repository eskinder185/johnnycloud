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5143500" cx="9144000"/>
  <p:notesSz cx="6858000" cy="9144000"/>
  <p:embeddedFontLst>
    <p:embeddedFont>
      <p:font typeface="Montserrat SemiBold"/>
      <p:regular r:id="rId18"/>
      <p:bold r:id="rId19"/>
      <p:italic r:id="rId20"/>
      <p:boldItalic r:id="rId21"/>
    </p:embeddedFont>
    <p:embeddedFont>
      <p:font typeface="Montserrat"/>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MontserratSemiBold-italic.fntdata"/><Relationship Id="rId22" Type="http://schemas.openxmlformats.org/officeDocument/2006/relationships/font" Target="fonts/Montserrat-regular.fntdata"/><Relationship Id="rId21" Type="http://schemas.openxmlformats.org/officeDocument/2006/relationships/font" Target="fonts/MontserratSemiBold-boldItalic.fntdata"/><Relationship Id="rId24" Type="http://schemas.openxmlformats.org/officeDocument/2006/relationships/font" Target="fonts/Montserrat-italic.fntdata"/><Relationship Id="rId23" Type="http://schemas.openxmlformats.org/officeDocument/2006/relationships/font" Target="fonts/Montserrat-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schemas.openxmlformats.org/officeDocument/2006/relationships/font" Target="fonts/Montserrat-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MontserratSemiBold-bold.fntdata"/><Relationship Id="rId18" Type="http://schemas.openxmlformats.org/officeDocument/2006/relationships/font" Target="fonts/MontserratSemiBol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Hi everyone, let me introduce project johnny cloud and johnny 5 our ai chatbot mascot. An ode to the 1986 film short </a:t>
            </a:r>
            <a:r>
              <a:rPr lang="en-GB">
                <a:solidFill>
                  <a:schemeClr val="dk1"/>
                </a:solidFill>
              </a:rPr>
              <a:t>circuit</a:t>
            </a:r>
            <a:r>
              <a:rPr lang="en-GB">
                <a:solidFill>
                  <a:schemeClr val="dk1"/>
                </a:solidFill>
              </a:rPr>
              <a:t> where a military robot has a malfunction and became self aware needing information or input as it would call it.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Project Criteria 1 low cost, 2 serverless, AI, real world problem for AWS services, and looking to the future, agentic AI</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What is Johnny Cloud: a voice activated AI assistant that watches your AWS </a:t>
            </a:r>
            <a:r>
              <a:rPr lang="en-GB">
                <a:solidFill>
                  <a:schemeClr val="dk1"/>
                </a:solidFill>
              </a:rPr>
              <a:t>environment </a:t>
            </a:r>
            <a:r>
              <a:rPr lang="en-GB">
                <a:solidFill>
                  <a:schemeClr val="dk1"/>
                </a:solidFill>
              </a:rPr>
              <a:t>for security threats and cost anomolies, then alerts you when there is an issue. It’s a serverless, </a:t>
            </a:r>
            <a:r>
              <a:rPr b="1" lang="en-GB">
                <a:solidFill>
                  <a:schemeClr val="dk1"/>
                </a:solidFill>
              </a:rPr>
              <a:t>low-cost</a:t>
            </a:r>
            <a:r>
              <a:rPr lang="en-GB">
                <a:solidFill>
                  <a:schemeClr val="dk1"/>
                </a:solidFill>
              </a:rPr>
              <a:t> AI chatbot powered by a LLM(Claude for reasoning). Now we have the input!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the next few minutes, how our solution works, a quick demo, a short press release, and then Q&amp;A. but now, let me introduce you to the team</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7518bd96e9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7518bd96e9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a:solidFill>
                  <a:schemeClr val="dk1"/>
                </a:solidFill>
              </a:rPr>
              <a:t>FREDY -Our team combined our diverse </a:t>
            </a:r>
            <a:r>
              <a:rPr b="1" lang="en-GB">
                <a:solidFill>
                  <a:schemeClr val="dk1"/>
                </a:solidFill>
              </a:rPr>
              <a:t>backgrounds</a:t>
            </a:r>
            <a:r>
              <a:rPr b="1" lang="en-GB">
                <a:solidFill>
                  <a:schemeClr val="dk1"/>
                </a:solidFill>
              </a:rPr>
              <a:t> and knowledge to help make this project possible. We are united by a common mission: to empower </a:t>
            </a:r>
            <a:r>
              <a:rPr b="1" lang="en-GB">
                <a:solidFill>
                  <a:schemeClr val="dk1"/>
                </a:solidFill>
              </a:rPr>
              <a:t>businesses</a:t>
            </a:r>
            <a:r>
              <a:rPr b="1" lang="en-GB">
                <a:solidFill>
                  <a:schemeClr val="dk1"/>
                </a:solidFill>
              </a:rPr>
              <a:t> with an intelligent assistant that makes cloud security and cost management effortless. We are making AI work along man and not replacing one.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8051f1a29a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8051f1a29a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400"/>
              <a:t>Roman can speak o this </a:t>
            </a:r>
            <a:endParaRPr sz="1400"/>
          </a:p>
          <a:p>
            <a:pPr indent="0" lvl="0" marL="0" rtl="0" algn="l">
              <a:spcBef>
                <a:spcPts val="0"/>
              </a:spcBef>
              <a:spcAft>
                <a:spcPts val="0"/>
              </a:spcAft>
              <a:buClr>
                <a:schemeClr val="dk1"/>
              </a:buClr>
              <a:buSzPts val="1100"/>
              <a:buFont typeface="Arial"/>
              <a:buNone/>
            </a:pPr>
            <a:r>
              <a:t/>
            </a:r>
            <a:endParaRPr sz="1400"/>
          </a:p>
          <a:p>
            <a:pPr indent="-317500" lvl="0" marL="457200" rtl="0" algn="l">
              <a:spcBef>
                <a:spcPts val="0"/>
              </a:spcBef>
              <a:spcAft>
                <a:spcPts val="0"/>
              </a:spcAft>
              <a:buClr>
                <a:schemeClr val="dk1"/>
              </a:buClr>
              <a:buSzPts val="1400"/>
              <a:buChar char="●"/>
            </a:pPr>
            <a:r>
              <a:rPr b="1" lang="en-GB" sz="1400">
                <a:solidFill>
                  <a:schemeClr val="dk1"/>
                </a:solidFill>
              </a:rPr>
              <a:t>Empowering Cloud Teams:</a:t>
            </a:r>
            <a:r>
              <a:rPr lang="en-GB" sz="1400">
                <a:solidFill>
                  <a:schemeClr val="dk1"/>
                </a:solidFill>
              </a:rPr>
              <a:t> Provides real-time </a:t>
            </a:r>
            <a:endParaRPr sz="1400">
              <a:solidFill>
                <a:schemeClr val="dk1"/>
              </a:solidFill>
            </a:endParaRPr>
          </a:p>
          <a:p>
            <a:pPr indent="0" lvl="0" marL="457200" rtl="0" algn="l">
              <a:spcBef>
                <a:spcPts val="0"/>
              </a:spcBef>
              <a:spcAft>
                <a:spcPts val="0"/>
              </a:spcAft>
              <a:buClr>
                <a:schemeClr val="dk1"/>
              </a:buClr>
              <a:buSzPts val="1100"/>
              <a:buFont typeface="Arial"/>
              <a:buNone/>
            </a:pPr>
            <a:r>
              <a:rPr lang="en-GB" sz="1400">
                <a:solidFill>
                  <a:schemeClr val="dk1"/>
                </a:solidFill>
              </a:rPr>
              <a:t>insights and automation help teams work more efficiently.</a:t>
            </a:r>
            <a:endParaRPr sz="1400">
              <a:solidFill>
                <a:schemeClr val="dk1"/>
              </a:solidFill>
            </a:endParaRPr>
          </a:p>
          <a:p>
            <a:pPr indent="-317500" lvl="0" marL="457200" rtl="0" algn="l">
              <a:spcBef>
                <a:spcPts val="0"/>
              </a:spcBef>
              <a:spcAft>
                <a:spcPts val="0"/>
              </a:spcAft>
              <a:buClr>
                <a:schemeClr val="dk1"/>
              </a:buClr>
              <a:buSzPts val="1400"/>
              <a:buChar char="●"/>
            </a:pPr>
            <a:r>
              <a:rPr b="1" lang="en-GB" sz="1400">
                <a:solidFill>
                  <a:schemeClr val="dk1"/>
                </a:solidFill>
              </a:rPr>
              <a:t>Unified Operations:</a:t>
            </a:r>
            <a:r>
              <a:rPr lang="en-GB" sz="1400">
                <a:solidFill>
                  <a:schemeClr val="dk1"/>
                </a:solidFill>
              </a:rPr>
              <a:t> Bridges the gap between Man and Machine, helping with repetitive and proactive tasks.</a:t>
            </a:r>
            <a:endParaRPr sz="1400">
              <a:solidFill>
                <a:schemeClr val="dk1"/>
              </a:solidFill>
            </a:endParaRPr>
          </a:p>
          <a:p>
            <a:pPr indent="-317500" lvl="0" marL="457200" rtl="0" algn="l">
              <a:spcBef>
                <a:spcPts val="0"/>
              </a:spcBef>
              <a:spcAft>
                <a:spcPts val="0"/>
              </a:spcAft>
              <a:buClr>
                <a:schemeClr val="dk1"/>
              </a:buClr>
              <a:buSzPts val="1400"/>
              <a:buChar char="●"/>
            </a:pPr>
            <a:r>
              <a:rPr b="1" lang="en-GB" sz="1400">
                <a:solidFill>
                  <a:schemeClr val="dk1"/>
                </a:solidFill>
              </a:rPr>
              <a:t>Proactive &amp; Native:</a:t>
            </a:r>
            <a:r>
              <a:rPr lang="en-GB" sz="1400">
                <a:solidFill>
                  <a:schemeClr val="dk1"/>
                </a:solidFill>
              </a:rPr>
              <a:t> Built for AWS-native environments, offering proactive guidance and user-friendly interaction, including voice integration.</a:t>
            </a:r>
            <a:endParaRPr sz="1400">
              <a:solidFill>
                <a:schemeClr val="dk1"/>
              </a:solidFill>
            </a:endParaRPr>
          </a:p>
          <a:p>
            <a:pPr indent="-317500" lvl="0" marL="457200" rtl="0" algn="l">
              <a:spcBef>
                <a:spcPts val="0"/>
              </a:spcBef>
              <a:spcAft>
                <a:spcPts val="0"/>
              </a:spcAft>
              <a:buClr>
                <a:schemeClr val="dk1"/>
              </a:buClr>
              <a:buSzPts val="1400"/>
              <a:buChar char="●"/>
            </a:pPr>
            <a:r>
              <a:rPr b="1" lang="en-GB" sz="1400">
                <a:solidFill>
                  <a:schemeClr val="dk1"/>
                </a:solidFill>
              </a:rPr>
              <a:t>Save time: </a:t>
            </a:r>
            <a:r>
              <a:rPr lang="en-GB" sz="1400">
                <a:solidFill>
                  <a:schemeClr val="dk1"/>
                </a:solidFill>
              </a:rPr>
              <a:t>Give time back to your team so they can be creative and innovative</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t/>
            </a:r>
            <a:endParaRPr sz="1400"/>
          </a:p>
          <a:p>
            <a:pPr indent="0" lvl="0" marL="457200" rtl="0" algn="l">
              <a:spcBef>
                <a:spcPts val="0"/>
              </a:spcBef>
              <a:spcAft>
                <a:spcPts val="0"/>
              </a:spcAft>
              <a:buClr>
                <a:schemeClr val="dk1"/>
              </a:buClr>
              <a:buSzPts val="1100"/>
              <a:buFont typeface="Arial"/>
              <a:buNone/>
            </a:pPr>
            <a:r>
              <a:t/>
            </a:r>
            <a:endParaRPr sz="14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7518bd96e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7518bd96e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GB">
                <a:solidFill>
                  <a:schemeClr val="dk1"/>
                </a:solidFill>
              </a:rPr>
              <a:t>ROMAN SPEAKS ON THIS 	thens goes “Why AWS page”, eskinder will be sharing screen on that.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7518bd96e9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7518bd96e9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Eskinder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Are you tired of constantly worrying about hidden security risks and unexpected costs in your AWS environment? Do you wish you had an extra set of eyes to watch your cloud services around the clock?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Introducing </a:t>
            </a:r>
            <a:r>
              <a:rPr b="1" lang="en-GB">
                <a:solidFill>
                  <a:schemeClr val="dk1"/>
                </a:solidFill>
              </a:rPr>
              <a:t>Johnny Cloud</a:t>
            </a:r>
            <a:r>
              <a:rPr lang="en-GB">
                <a:solidFill>
                  <a:schemeClr val="dk1"/>
                </a:solidFill>
              </a:rPr>
              <a:t>, the smart, serverless AI assistant for AWS.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Johnny Cloud goes beyond basic monitoring. It's a proactive partner that keeps an eye on your services, spotting issues before they become major problems. If something looks off—whether it’s a potential security threat or a sudden spike in spending—Johnny Cloud doesn't just send an alert. It delivers a clear, plain-English explanation of what happened, who owns it, and what you need to do next.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And because it's serverless and pay-as-you-go, there are no servers to manage and the cost is always low and predictable.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Stop reacting to problems and start preventing them. With Johnny Cloud, you get more than just an assistant—you get a new level of </a:t>
            </a:r>
            <a:r>
              <a:rPr b="1" lang="en-GB">
                <a:solidFill>
                  <a:schemeClr val="dk1"/>
                </a:solidFill>
              </a:rPr>
              <a:t>clarity, control, and confidence</a:t>
            </a:r>
            <a:r>
              <a:rPr lang="en-GB">
                <a:solidFill>
                  <a:schemeClr val="dk1"/>
                </a:solidFill>
              </a:rPr>
              <a:t> in the cloud.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7518bd96e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7518bd96e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 Eskinder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7518bd96e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7518bd96e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br>
              <a:rPr b="1" lang="en-GB">
                <a:solidFill>
                  <a:schemeClr val="dk1"/>
                </a:solidFill>
              </a:rPr>
            </a:b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808fa5dbd6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808fa5dbd6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GB">
                <a:solidFill>
                  <a:schemeClr val="dk1"/>
                </a:solidFill>
              </a:rPr>
              <a:t>Chandramati can speak here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8051f1a29a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8051f1a29a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GB">
                <a:solidFill>
                  <a:schemeClr val="dk1"/>
                </a:solidFill>
              </a:rPr>
              <a:t>Chandramati speaks </a:t>
            </a:r>
            <a:r>
              <a:rPr lang="en-GB" sz="1900">
                <a:solidFill>
                  <a:schemeClr val="dk1"/>
                </a:solidFill>
              </a:rPr>
              <a:t>Designed for clarity, speed, and accessibility whether you’re a FinOps analyst or SecOps lead.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8051f1a29a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8051f1a29a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275"/>
              <a:buFont typeface="Arial"/>
              <a:buNone/>
            </a:pPr>
            <a:r>
              <a:rPr b="1" lang="en-GB">
                <a:solidFill>
                  <a:schemeClr val="dk1"/>
                </a:solidFill>
              </a:rPr>
              <a:t>Fredy first part Eskinder 2nd part </a:t>
            </a:r>
            <a:endParaRPr b="1">
              <a:solidFill>
                <a:schemeClr val="dk1"/>
              </a:solidFill>
            </a:endParaRPr>
          </a:p>
          <a:p>
            <a:pPr indent="0" lvl="0" marL="0" rtl="0" algn="l">
              <a:lnSpc>
                <a:spcPct val="95000"/>
              </a:lnSpc>
              <a:spcBef>
                <a:spcPts val="1200"/>
              </a:spcBef>
              <a:spcAft>
                <a:spcPts val="0"/>
              </a:spcAft>
              <a:buClr>
                <a:schemeClr val="dk1"/>
              </a:buClr>
              <a:buSzPts val="275"/>
              <a:buFont typeface="Arial"/>
              <a:buNone/>
            </a:pPr>
            <a:r>
              <a:rPr b="1" lang="en-GB">
                <a:solidFill>
                  <a:schemeClr val="dk1"/>
                </a:solidFill>
              </a:rPr>
              <a:t>Initial Hurdles with Service Integration:</a:t>
            </a:r>
            <a:r>
              <a:rPr lang="en-GB">
                <a:solidFill>
                  <a:schemeClr val="dk1"/>
                </a:solidFill>
              </a:rPr>
              <a:t> Connecting different AWS services was a key challenge, requiring a deep understanding of each platform's unique API and configuration requirements.</a:t>
            </a:r>
            <a:endParaRPr>
              <a:solidFill>
                <a:schemeClr val="dk1"/>
              </a:solidFill>
            </a:endParaRPr>
          </a:p>
          <a:p>
            <a:pPr indent="0" lvl="0" marL="0" rtl="0" algn="l">
              <a:lnSpc>
                <a:spcPct val="95000"/>
              </a:lnSpc>
              <a:spcBef>
                <a:spcPts val="1200"/>
              </a:spcBef>
              <a:spcAft>
                <a:spcPts val="0"/>
              </a:spcAft>
              <a:buClr>
                <a:schemeClr val="dk1"/>
              </a:buClr>
              <a:buSzPts val="275"/>
              <a:buFont typeface="Arial"/>
              <a:buNone/>
            </a:pPr>
            <a:r>
              <a:rPr b="1" lang="en-GB">
                <a:solidFill>
                  <a:schemeClr val="dk1"/>
                </a:solidFill>
              </a:rPr>
              <a:t>Controlling the AI:</a:t>
            </a:r>
            <a:r>
              <a:rPr lang="en-GB">
                <a:solidFill>
                  <a:schemeClr val="dk1"/>
                </a:solidFill>
              </a:rPr>
              <a:t> We had to carefully craft the prompts to guide the chatbot, as we found it was a challenge to ensure it stayed on topic and used only the data provided to avoid "hallucinating" or inventing information.</a:t>
            </a:r>
            <a:endParaRPr>
              <a:solidFill>
                <a:schemeClr val="dk1"/>
              </a:solidFill>
            </a:endParaRPr>
          </a:p>
          <a:p>
            <a:pPr indent="0" lvl="0" marL="0" rtl="0" algn="l">
              <a:lnSpc>
                <a:spcPct val="95000"/>
              </a:lnSpc>
              <a:spcBef>
                <a:spcPts val="1200"/>
              </a:spcBef>
              <a:spcAft>
                <a:spcPts val="0"/>
              </a:spcAft>
              <a:buClr>
                <a:schemeClr val="dk1"/>
              </a:buClr>
              <a:buSzPts val="275"/>
              <a:buFont typeface="Arial"/>
              <a:buNone/>
            </a:pPr>
            <a:r>
              <a:rPr b="1" lang="en-GB">
                <a:solidFill>
                  <a:schemeClr val="dk1"/>
                </a:solidFill>
              </a:rPr>
              <a:t>Security &amp; Permissions:</a:t>
            </a:r>
            <a:r>
              <a:rPr lang="en-GB">
                <a:solidFill>
                  <a:schemeClr val="dk1"/>
                </a:solidFill>
              </a:rPr>
              <a:t> Setting up the correct Identity and Access Management (IAM) roles was a major focus, as the Lambda function needed specific, least-privilege permissions to securely access services like GuardDuty and Cost Anomaly Detection without having overly broad access to the AWS account.</a:t>
            </a:r>
            <a:endParaRPr>
              <a:solidFill>
                <a:schemeClr val="dk1"/>
              </a:solidFill>
            </a:endParaRPr>
          </a:p>
          <a:p>
            <a:pPr indent="0" lvl="0" marL="0" rtl="0" algn="l">
              <a:lnSpc>
                <a:spcPct val="95000"/>
              </a:lnSpc>
              <a:spcBef>
                <a:spcPts val="1200"/>
              </a:spcBef>
              <a:spcAft>
                <a:spcPts val="1200"/>
              </a:spcAft>
              <a:buClr>
                <a:schemeClr val="dk1"/>
              </a:buClr>
              <a:buSzPts val="275"/>
              <a:buFont typeface="Arial"/>
              <a:buNone/>
            </a:pPr>
            <a:r>
              <a:rPr b="1" lang="en-GB">
                <a:solidFill>
                  <a:schemeClr val="dk1"/>
                </a:solidFill>
              </a:rPr>
              <a:t>Architectural Complexity:</a:t>
            </a:r>
            <a:r>
              <a:rPr lang="en-GB">
                <a:solidFill>
                  <a:schemeClr val="dk1"/>
                </a:solidFill>
              </a:rPr>
              <a:t> Getting a firm grasp on how to best orchestrate the services from EventBridge routing, to alerts within the Lambda function required a solid understanding of how all the components would work together in a serverless pipeline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7518bd96e9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7518bd96e9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200"/>
              <a:t>HAMAD SPEAKS ON THIS </a:t>
            </a:r>
            <a:endParaRPr sz="1200"/>
          </a:p>
          <a:p>
            <a:pPr indent="0" lvl="0" marL="0" rtl="0" algn="l">
              <a:lnSpc>
                <a:spcPct val="115000"/>
              </a:lnSpc>
              <a:spcBef>
                <a:spcPts val="0"/>
              </a:spcBef>
              <a:spcAft>
                <a:spcPts val="0"/>
              </a:spcAft>
              <a:buClr>
                <a:schemeClr val="dk1"/>
              </a:buClr>
              <a:buSzPts val="275"/>
              <a:buFont typeface="Arial"/>
              <a:buNone/>
            </a:pPr>
            <a:r>
              <a:rPr b="1" lang="en-GB" sz="1200">
                <a:solidFill>
                  <a:schemeClr val="dk1"/>
                </a:solidFill>
              </a:rPr>
              <a:t>🔄 Multi-Account Support </a:t>
            </a:r>
            <a:r>
              <a:rPr lang="en-GB" sz="1200">
                <a:solidFill>
                  <a:schemeClr val="dk1"/>
                </a:solidFill>
              </a:rPr>
              <a:t>Yes,we can use a central AWS Organization account to collect and route all events.</a:t>
            </a:r>
            <a:endParaRPr sz="1200">
              <a:solidFill>
                <a:schemeClr val="dk1"/>
              </a:solidFill>
            </a:endParaRPr>
          </a:p>
          <a:p>
            <a:pPr indent="0" lvl="0" marL="0" rtl="0" algn="l">
              <a:lnSpc>
                <a:spcPct val="115000"/>
              </a:lnSpc>
              <a:spcBef>
                <a:spcPts val="0"/>
              </a:spcBef>
              <a:spcAft>
                <a:spcPts val="0"/>
              </a:spcAft>
              <a:buClr>
                <a:schemeClr val="dk1"/>
              </a:buClr>
              <a:buSzPts val="275"/>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275"/>
              <a:buFont typeface="Arial"/>
              <a:buNone/>
            </a:pPr>
            <a:r>
              <a:rPr lang="en-GB" sz="1200">
                <a:solidFill>
                  <a:schemeClr val="dk1"/>
                </a:solidFill>
              </a:rPr>
              <a:t>(Managing multiple AWS accounts can get complicated. With a central AWS Organization account, you can bring everything together in one place. This setup makes it easier to collect, manage, and route all events across accounts. Instead of checking each account separately, you can track security, billing, and resources from a single hub. This saves time, reduces errors, and makes monitoring much simpler for teams.)</a:t>
            </a:r>
            <a:endParaRPr sz="1200">
              <a:solidFill>
                <a:schemeClr val="dk1"/>
              </a:solidFill>
            </a:endParaRPr>
          </a:p>
          <a:p>
            <a:pPr indent="0" lvl="0" marL="0" rtl="0" algn="l">
              <a:lnSpc>
                <a:spcPct val="115000"/>
              </a:lnSpc>
              <a:spcBef>
                <a:spcPts val="0"/>
              </a:spcBef>
              <a:spcAft>
                <a:spcPts val="0"/>
              </a:spcAft>
              <a:buClr>
                <a:schemeClr val="dk1"/>
              </a:buClr>
              <a:buSzPts val="275"/>
              <a:buFont typeface="Arial"/>
              <a:buNone/>
            </a:pPr>
            <a:r>
              <a:t/>
            </a:r>
            <a:endParaRPr b="1" sz="1200">
              <a:solidFill>
                <a:schemeClr val="dk1"/>
              </a:solidFill>
            </a:endParaRPr>
          </a:p>
          <a:p>
            <a:pPr indent="0" lvl="0" marL="0" rtl="0" algn="l">
              <a:lnSpc>
                <a:spcPct val="115000"/>
              </a:lnSpc>
              <a:spcBef>
                <a:spcPts val="0"/>
              </a:spcBef>
              <a:spcAft>
                <a:spcPts val="0"/>
              </a:spcAft>
              <a:buClr>
                <a:schemeClr val="dk1"/>
              </a:buClr>
              <a:buSzPts val="275"/>
              <a:buFont typeface="Arial"/>
              <a:buNone/>
            </a:pPr>
            <a:r>
              <a:rPr b="1" lang="en-GB" sz="1200">
                <a:solidFill>
                  <a:schemeClr val="dk1"/>
                </a:solidFill>
              </a:rPr>
              <a:t>⚙️ Automated Fixes </a:t>
            </a:r>
            <a:r>
              <a:rPr lang="en-GB" sz="1200">
                <a:solidFill>
                  <a:schemeClr val="dk1"/>
                </a:solidFill>
              </a:rPr>
              <a:t>Start with one-click runbooks. Enable safe auto actions, such as isolating risky instances or stopping costly resources.</a:t>
            </a:r>
            <a:endParaRPr sz="1200">
              <a:solidFill>
                <a:schemeClr val="dk1"/>
              </a:solidFill>
            </a:endParaRPr>
          </a:p>
          <a:p>
            <a:pPr indent="0" lvl="0" marL="0" rtl="0" algn="l">
              <a:lnSpc>
                <a:spcPct val="115000"/>
              </a:lnSpc>
              <a:spcBef>
                <a:spcPts val="0"/>
              </a:spcBef>
              <a:spcAft>
                <a:spcPts val="0"/>
              </a:spcAft>
              <a:buClr>
                <a:schemeClr val="dk1"/>
              </a:buClr>
              <a:buSzPts val="275"/>
              <a:buFont typeface="Arial"/>
              <a:buNone/>
            </a:pPr>
            <a:r>
              <a:rPr lang="en-GB" sz="1200">
                <a:solidFill>
                  <a:schemeClr val="dk1"/>
                </a:solidFill>
              </a:rPr>
              <a:t>(Security and cost issues often happen suddenly, and manual fixing can take too long. Automated runbooks provide one-click solutions to common problems. For example, if a server is acting suspicious, it can be isolated automatically. If resources are costing too much, they can be stopped quickly. These safe auto actions reduce risk, save time, and protect the organization without waiting for manual intervention.)</a:t>
            </a:r>
            <a:endParaRPr sz="1200">
              <a:solidFill>
                <a:schemeClr val="dk1"/>
              </a:solidFill>
            </a:endParaRPr>
          </a:p>
          <a:p>
            <a:pPr indent="0" lvl="0" marL="0" rtl="0" algn="l">
              <a:lnSpc>
                <a:spcPct val="115000"/>
              </a:lnSpc>
              <a:spcBef>
                <a:spcPts val="0"/>
              </a:spcBef>
              <a:spcAft>
                <a:spcPts val="0"/>
              </a:spcAft>
              <a:buClr>
                <a:schemeClr val="dk1"/>
              </a:buClr>
              <a:buSzPts val="275"/>
              <a:buFont typeface="Arial"/>
              <a:buNone/>
            </a:pPr>
            <a:r>
              <a:t/>
            </a:r>
            <a:endParaRPr b="1" sz="1200">
              <a:solidFill>
                <a:schemeClr val="dk1"/>
              </a:solidFill>
            </a:endParaRPr>
          </a:p>
          <a:p>
            <a:pPr indent="0" lvl="0" marL="0" rtl="0" algn="l">
              <a:lnSpc>
                <a:spcPct val="115000"/>
              </a:lnSpc>
              <a:spcBef>
                <a:spcPts val="0"/>
              </a:spcBef>
              <a:spcAft>
                <a:spcPts val="0"/>
              </a:spcAft>
              <a:buClr>
                <a:schemeClr val="dk1"/>
              </a:buClr>
              <a:buSzPts val="275"/>
              <a:buFont typeface="Arial"/>
              <a:buNone/>
            </a:pPr>
            <a:r>
              <a:rPr b="1" lang="en-GB" sz="1200">
                <a:solidFill>
                  <a:schemeClr val="dk1"/>
                </a:solidFill>
              </a:rPr>
              <a:t>🔐 Data Safety </a:t>
            </a:r>
            <a:r>
              <a:rPr lang="en-GB" sz="1200">
                <a:solidFill>
                  <a:schemeClr val="dk1"/>
                </a:solidFill>
              </a:rPr>
              <a:t>We read from your account and return results to the UI. No sensitive data is stored outside your environment. Save remediation logs and chat threads in your own DynamoDB tables.</a:t>
            </a:r>
            <a:endParaRPr sz="1200">
              <a:solidFill>
                <a:schemeClr val="dk1"/>
              </a:solidFill>
            </a:endParaRPr>
          </a:p>
          <a:p>
            <a:pPr indent="0" lvl="0" marL="0" rtl="0" algn="l">
              <a:lnSpc>
                <a:spcPct val="115000"/>
              </a:lnSpc>
              <a:spcBef>
                <a:spcPts val="0"/>
              </a:spcBef>
              <a:spcAft>
                <a:spcPts val="0"/>
              </a:spcAft>
              <a:buClr>
                <a:schemeClr val="dk1"/>
              </a:buClr>
              <a:buSzPts val="275"/>
              <a:buFont typeface="Arial"/>
              <a:buNone/>
            </a:pPr>
            <a:r>
              <a:t/>
            </a:r>
            <a:endParaRPr b="1" sz="1200">
              <a:solidFill>
                <a:schemeClr val="dk1"/>
              </a:solidFill>
            </a:endParaRPr>
          </a:p>
          <a:p>
            <a:pPr indent="0" lvl="0" marL="0" rtl="0" algn="l">
              <a:lnSpc>
                <a:spcPct val="115000"/>
              </a:lnSpc>
              <a:spcBef>
                <a:spcPts val="0"/>
              </a:spcBef>
              <a:spcAft>
                <a:spcPts val="0"/>
              </a:spcAft>
              <a:buClr>
                <a:schemeClr val="dk1"/>
              </a:buClr>
              <a:buSzPts val="275"/>
              <a:buFont typeface="Arial"/>
              <a:buNone/>
            </a:pPr>
            <a:r>
              <a:rPr lang="en-GB" sz="1200">
                <a:solidFill>
                  <a:schemeClr val="dk1"/>
                </a:solidFill>
              </a:rPr>
              <a:t>(Keeping data safe is a top priority. This system reads data from your AWS account and only shows results in the dashboard. Sensitive data is not stored outside of your environment. You also have the option to save remediation logs and chat history into your own DynamoDB tables for tracking. This means you remain in full control of your information, keeping privacy and compliance strong.)</a:t>
            </a:r>
            <a:endParaRPr sz="1200">
              <a:solidFill>
                <a:schemeClr val="dk1"/>
              </a:solidFill>
            </a:endParaRPr>
          </a:p>
          <a:p>
            <a:pPr indent="0" lvl="0" marL="0" rtl="0" algn="l">
              <a:lnSpc>
                <a:spcPct val="115000"/>
              </a:lnSpc>
              <a:spcBef>
                <a:spcPts val="0"/>
              </a:spcBef>
              <a:spcAft>
                <a:spcPts val="0"/>
              </a:spcAft>
              <a:buClr>
                <a:schemeClr val="dk1"/>
              </a:buClr>
              <a:buSzPts val="275"/>
              <a:buFont typeface="Arial"/>
              <a:buNone/>
            </a:pPr>
            <a:r>
              <a:t/>
            </a:r>
            <a:endParaRPr b="1" sz="1200">
              <a:solidFill>
                <a:schemeClr val="dk1"/>
              </a:solidFill>
            </a:endParaRPr>
          </a:p>
          <a:p>
            <a:pPr indent="0" lvl="0" marL="0" rtl="0" algn="l">
              <a:lnSpc>
                <a:spcPct val="115000"/>
              </a:lnSpc>
              <a:spcBef>
                <a:spcPts val="0"/>
              </a:spcBef>
              <a:spcAft>
                <a:spcPts val="0"/>
              </a:spcAft>
              <a:buClr>
                <a:schemeClr val="dk1"/>
              </a:buClr>
              <a:buSzPts val="275"/>
              <a:buFont typeface="Arial"/>
              <a:buNone/>
            </a:pPr>
            <a:r>
              <a:rPr b="1" lang="en-GB" sz="1200">
                <a:solidFill>
                  <a:schemeClr val="dk1"/>
                </a:solidFill>
              </a:rPr>
              <a:t>💸 Cost to Run </a:t>
            </a:r>
            <a:r>
              <a:rPr lang="en-GB" sz="1200">
                <a:solidFill>
                  <a:schemeClr val="dk1"/>
                </a:solidFill>
              </a:rPr>
              <a:t>The serverless architecture keeps costs low just a few dollars per month for demos. We set a small budget and alerts before any unexpected cost surprises.</a:t>
            </a:r>
            <a:endParaRPr sz="1200">
              <a:solidFill>
                <a:schemeClr val="dk1"/>
              </a:solidFill>
            </a:endParaRPr>
          </a:p>
          <a:p>
            <a:pPr indent="0" lvl="0" marL="0" rtl="0" algn="l">
              <a:lnSpc>
                <a:spcPct val="115000"/>
              </a:lnSpc>
              <a:spcBef>
                <a:spcPts val="0"/>
              </a:spcBef>
              <a:spcAft>
                <a:spcPts val="0"/>
              </a:spcAft>
              <a:buClr>
                <a:schemeClr val="dk1"/>
              </a:buClr>
              <a:buSzPts val="275"/>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275"/>
              <a:buFont typeface="Arial"/>
              <a:buNone/>
            </a:pPr>
            <a:r>
              <a:rPr lang="en-GB" sz="1200">
                <a:solidFill>
                  <a:schemeClr val="dk1"/>
                </a:solidFill>
              </a:rPr>
              <a:t>(The solution uses a serverless architecture, which means you only pay for what you use. This keeps costs very low just a few dollars per month for demo projects. It also helps you set budgets and alerts to make sure spending doesn’t get out of control. With cost monitoring, you can see exactly how much is being spent and take steps early to avoid unexpected bills.)</a:t>
            </a:r>
            <a:endParaRPr sz="1200">
              <a:solidFill>
                <a:schemeClr val="dk1"/>
              </a:solidFill>
            </a:endParaRPr>
          </a:p>
          <a:p>
            <a:pPr indent="0" lvl="0" marL="0" rtl="0" algn="l">
              <a:lnSpc>
                <a:spcPct val="115000"/>
              </a:lnSpc>
              <a:spcBef>
                <a:spcPts val="0"/>
              </a:spcBef>
              <a:spcAft>
                <a:spcPts val="0"/>
              </a:spcAft>
              <a:buClr>
                <a:schemeClr val="dk1"/>
              </a:buClr>
              <a:buSzPts val="275"/>
              <a:buFont typeface="Arial"/>
              <a:buNone/>
            </a:pPr>
            <a:r>
              <a:t/>
            </a:r>
            <a:endParaRPr b="1" sz="1200">
              <a:solidFill>
                <a:schemeClr val="dk1"/>
              </a:solidFill>
            </a:endParaRPr>
          </a:p>
          <a:p>
            <a:pPr indent="0" lvl="0" marL="0" rtl="0" algn="l">
              <a:lnSpc>
                <a:spcPct val="115000"/>
              </a:lnSpc>
              <a:spcBef>
                <a:spcPts val="0"/>
              </a:spcBef>
              <a:spcAft>
                <a:spcPts val="0"/>
              </a:spcAft>
              <a:buClr>
                <a:schemeClr val="dk1"/>
              </a:buClr>
              <a:buSzPts val="275"/>
              <a:buFont typeface="Arial"/>
              <a:buNone/>
            </a:pPr>
            <a:r>
              <a:rPr b="1" lang="en-GB" sz="1200">
                <a:solidFill>
                  <a:schemeClr val="dk1"/>
                </a:solidFill>
              </a:rPr>
              <a:t>🚨 What If Something Breaks?</a:t>
            </a:r>
            <a:r>
              <a:rPr lang="en-GB" sz="1200">
                <a:solidFill>
                  <a:schemeClr val="dk1"/>
                </a:solidFill>
              </a:rPr>
              <a:t> System has retries, backup queues, and team alerts to ensure resilience and transparency.</a:t>
            </a:r>
            <a:endParaRPr sz="1200">
              <a:solidFill>
                <a:schemeClr val="dk1"/>
              </a:solidFill>
            </a:endParaRPr>
          </a:p>
          <a:p>
            <a:pPr indent="0" lvl="0" marL="0" rtl="0" algn="l">
              <a:lnSpc>
                <a:spcPct val="115000"/>
              </a:lnSpc>
              <a:spcBef>
                <a:spcPts val="0"/>
              </a:spcBef>
              <a:spcAft>
                <a:spcPts val="0"/>
              </a:spcAft>
              <a:buClr>
                <a:schemeClr val="dk1"/>
              </a:buClr>
              <a:buSzPts val="275"/>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275"/>
              <a:buFont typeface="Arial"/>
              <a:buNone/>
            </a:pPr>
            <a:r>
              <a:rPr lang="en-GB" sz="1200">
                <a:solidFill>
                  <a:schemeClr val="dk1"/>
                </a:solidFill>
              </a:rPr>
              <a:t>(No system is perfect, but this setup is designed to recover quickly. If something fails, built-in retries automatically try again. Dead-letter queues make sure no messages or data are lost. Team alerts notify the right people instantly so they can take action. This ensures the system stays resilient, transparent, and reliable even when issues occur.)</a:t>
            </a:r>
            <a:endParaRPr sz="12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7518bd96e9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7518bd96e9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200"/>
              <a:t>Hamad speaks </a:t>
            </a:r>
            <a:endParaRPr sz="1200"/>
          </a:p>
          <a:p>
            <a:pPr indent="0" lvl="0" marL="0" rtl="0" algn="l">
              <a:spcBef>
                <a:spcPts val="0"/>
              </a:spcBef>
              <a:spcAft>
                <a:spcPts val="0"/>
              </a:spcAft>
              <a:buNone/>
            </a:pPr>
            <a:r>
              <a:t/>
            </a:r>
            <a:endParaRPr sz="1200"/>
          </a:p>
          <a:p>
            <a:pPr indent="0" lvl="0" marL="0" rtl="0" algn="l">
              <a:lnSpc>
                <a:spcPct val="125000"/>
              </a:lnSpc>
              <a:spcBef>
                <a:spcPts val="0"/>
              </a:spcBef>
              <a:spcAft>
                <a:spcPts val="0"/>
              </a:spcAft>
              <a:buClr>
                <a:schemeClr val="dk1"/>
              </a:buClr>
              <a:buSzPts val="1100"/>
              <a:buFont typeface="Arial"/>
              <a:buNone/>
            </a:pPr>
            <a:r>
              <a:rPr b="1" lang="en-GB" sz="1200">
                <a:solidFill>
                  <a:schemeClr val="dk1"/>
                </a:solidFill>
              </a:rPr>
              <a:t>⚡ From Alerts to Action</a:t>
            </a:r>
            <a:endParaRPr b="1" sz="1200">
              <a:solidFill>
                <a:schemeClr val="dk1"/>
              </a:solidFill>
            </a:endParaRPr>
          </a:p>
          <a:p>
            <a:pPr indent="457200" lvl="0" marL="0" rtl="0" algn="l">
              <a:lnSpc>
                <a:spcPct val="125000"/>
              </a:lnSpc>
              <a:spcBef>
                <a:spcPts val="0"/>
              </a:spcBef>
              <a:spcAft>
                <a:spcPts val="0"/>
              </a:spcAft>
              <a:buClr>
                <a:schemeClr val="dk1"/>
              </a:buClr>
              <a:buSzPts val="1100"/>
              <a:buFont typeface="Arial"/>
              <a:buNone/>
            </a:pPr>
            <a:r>
              <a:t/>
            </a:r>
            <a:endParaRPr sz="1200">
              <a:solidFill>
                <a:schemeClr val="dk1"/>
              </a:solidFill>
            </a:endParaRPr>
          </a:p>
          <a:p>
            <a:pPr indent="457200" lvl="0" marL="0" rtl="0" algn="l">
              <a:lnSpc>
                <a:spcPct val="125000"/>
              </a:lnSpc>
              <a:spcBef>
                <a:spcPts val="0"/>
              </a:spcBef>
              <a:spcAft>
                <a:spcPts val="0"/>
              </a:spcAft>
              <a:buClr>
                <a:schemeClr val="dk1"/>
              </a:buClr>
              <a:buSzPts val="1100"/>
              <a:buFont typeface="Arial"/>
              <a:buNone/>
            </a:pPr>
            <a:r>
              <a:rPr lang="en-GB" sz="1200">
                <a:solidFill>
                  <a:schemeClr val="dk1"/>
                </a:solidFill>
              </a:rPr>
              <a:t>One-click auto-fix buttons with optional automatic remediation to quickly solve common issues.</a:t>
            </a:r>
            <a:endParaRPr sz="1200">
              <a:solidFill>
                <a:schemeClr val="dk1"/>
              </a:solidFill>
            </a:endParaRPr>
          </a:p>
          <a:p>
            <a:pPr indent="457200" lvl="0" marL="0" rtl="0" algn="l">
              <a:lnSpc>
                <a:spcPct val="125000"/>
              </a:lnSpc>
              <a:spcBef>
                <a:spcPts val="0"/>
              </a:spcBef>
              <a:spcAft>
                <a:spcPts val="0"/>
              </a:spcAft>
              <a:buClr>
                <a:schemeClr val="dk1"/>
              </a:buClr>
              <a:buSzPts val="1100"/>
              <a:buFont typeface="Arial"/>
              <a:buNone/>
            </a:pPr>
            <a:r>
              <a:rPr lang="en-GB" sz="1200">
                <a:solidFill>
                  <a:schemeClr val="dk1"/>
                </a:solidFill>
              </a:rPr>
              <a:t>(Instead of just showing problems, the system helps you fix them quickly. With one-click auto-fix buttons and optional automatic remediation, common issues can be solved immediately without wasting time. This means fewer delays, less manual work, and a more reliable system overall.)</a:t>
            </a:r>
            <a:endParaRPr sz="1200">
              <a:solidFill>
                <a:schemeClr val="dk1"/>
              </a:solidFill>
            </a:endParaRPr>
          </a:p>
          <a:p>
            <a:pPr indent="457200" lvl="0" marL="0" rtl="0" algn="l">
              <a:lnSpc>
                <a:spcPct val="12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25000"/>
              </a:lnSpc>
              <a:spcBef>
                <a:spcPts val="0"/>
              </a:spcBef>
              <a:spcAft>
                <a:spcPts val="0"/>
              </a:spcAft>
              <a:buClr>
                <a:schemeClr val="dk1"/>
              </a:buClr>
              <a:buSzPts val="1100"/>
              <a:buFont typeface="Arial"/>
              <a:buNone/>
            </a:pPr>
            <a:r>
              <a:rPr b="1" lang="en-GB" sz="1200">
                <a:solidFill>
                  <a:schemeClr val="dk1"/>
                </a:solidFill>
              </a:rPr>
              <a:t>🔐 Security, Tightened</a:t>
            </a:r>
            <a:endParaRPr b="1" sz="1200">
              <a:solidFill>
                <a:schemeClr val="dk1"/>
              </a:solidFill>
            </a:endParaRPr>
          </a:p>
          <a:p>
            <a:pPr indent="457200" lvl="0" marL="0" rtl="0" algn="l">
              <a:lnSpc>
                <a:spcPct val="12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25000"/>
              </a:lnSpc>
              <a:spcBef>
                <a:spcPts val="0"/>
              </a:spcBef>
              <a:spcAft>
                <a:spcPts val="0"/>
              </a:spcAft>
              <a:buClr>
                <a:schemeClr val="dk1"/>
              </a:buClr>
              <a:buSzPts val="1100"/>
              <a:buFont typeface="Arial"/>
              <a:buNone/>
            </a:pPr>
            <a:r>
              <a:rPr lang="en-GB" sz="1200">
                <a:solidFill>
                  <a:schemeClr val="dk1"/>
                </a:solidFill>
              </a:rPr>
              <a:t>          Safer environment with private endpoints, stricter IAM roles, strong encryption, and compliance checks.</a:t>
            </a:r>
            <a:endParaRPr sz="1200">
              <a:solidFill>
                <a:schemeClr val="dk1"/>
              </a:solidFill>
            </a:endParaRPr>
          </a:p>
          <a:p>
            <a:pPr indent="0" lvl="0" marL="0" rtl="0" algn="l">
              <a:lnSpc>
                <a:spcPct val="12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25000"/>
              </a:lnSpc>
              <a:spcBef>
                <a:spcPts val="0"/>
              </a:spcBef>
              <a:spcAft>
                <a:spcPts val="0"/>
              </a:spcAft>
              <a:buClr>
                <a:schemeClr val="dk1"/>
              </a:buClr>
              <a:buSzPts val="1100"/>
              <a:buFont typeface="Arial"/>
              <a:buNone/>
            </a:pPr>
            <a:r>
              <a:rPr lang="en-GB" sz="1200">
                <a:solidFill>
                  <a:schemeClr val="dk1"/>
                </a:solidFill>
              </a:rPr>
              <a:t>(The platform makes your environment safer by adding stronger protection. Private endpoints reduce exposure to the internet, stricter IAM roles ensure users only have the access they really need, and strong encryption keeps data safe. It also includes compliance checks so your system meets security standards without extra effort.)</a:t>
            </a:r>
            <a:endParaRPr sz="1200">
              <a:solidFill>
                <a:schemeClr val="dk1"/>
              </a:solidFill>
            </a:endParaRPr>
          </a:p>
          <a:p>
            <a:pPr indent="0" lvl="0" marL="0" rtl="0" algn="l">
              <a:lnSpc>
                <a:spcPct val="12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25000"/>
              </a:lnSpc>
              <a:spcBef>
                <a:spcPts val="0"/>
              </a:spcBef>
              <a:spcAft>
                <a:spcPts val="0"/>
              </a:spcAft>
              <a:buClr>
                <a:schemeClr val="dk1"/>
              </a:buClr>
              <a:buSzPts val="1100"/>
              <a:buFont typeface="Arial"/>
              <a:buNone/>
            </a:pPr>
            <a:r>
              <a:rPr b="1" lang="en-GB" sz="1200">
                <a:solidFill>
                  <a:schemeClr val="dk1"/>
                </a:solidFill>
              </a:rPr>
              <a:t>👁️‍🗨️ Visibility, Refined</a:t>
            </a:r>
            <a:endParaRPr b="1" sz="1200">
              <a:solidFill>
                <a:schemeClr val="dk1"/>
              </a:solidFill>
            </a:endParaRPr>
          </a:p>
          <a:p>
            <a:pPr indent="457200" lvl="0" marL="0" rtl="0" algn="l">
              <a:lnSpc>
                <a:spcPct val="125000"/>
              </a:lnSpc>
              <a:spcBef>
                <a:spcPts val="0"/>
              </a:spcBef>
              <a:spcAft>
                <a:spcPts val="0"/>
              </a:spcAft>
              <a:buClr>
                <a:schemeClr val="dk1"/>
              </a:buClr>
              <a:buSzPts val="1100"/>
              <a:buFont typeface="Arial"/>
              <a:buNone/>
            </a:pPr>
            <a:r>
              <a:t/>
            </a:r>
            <a:endParaRPr sz="1200">
              <a:solidFill>
                <a:schemeClr val="dk1"/>
              </a:solidFill>
            </a:endParaRPr>
          </a:p>
          <a:p>
            <a:pPr indent="457200" lvl="0" marL="0" rtl="0" algn="l">
              <a:lnSpc>
                <a:spcPct val="125000"/>
              </a:lnSpc>
              <a:spcBef>
                <a:spcPts val="0"/>
              </a:spcBef>
              <a:spcAft>
                <a:spcPts val="0"/>
              </a:spcAft>
              <a:buClr>
                <a:schemeClr val="dk1"/>
              </a:buClr>
              <a:buSzPts val="1100"/>
              <a:buFont typeface="Arial"/>
              <a:buNone/>
            </a:pPr>
            <a:r>
              <a:rPr lang="en-GB" sz="1200">
                <a:solidFill>
                  <a:schemeClr val="dk1"/>
                </a:solidFill>
              </a:rPr>
              <a:t>Cleaner logs, easy-to-use dashboard, and alerts for system failures to improve monitoring.</a:t>
            </a:r>
            <a:endParaRPr sz="1200">
              <a:solidFill>
                <a:schemeClr val="dk1"/>
              </a:solidFill>
            </a:endParaRPr>
          </a:p>
          <a:p>
            <a:pPr indent="457200" lvl="0" marL="0" rtl="0" algn="l">
              <a:lnSpc>
                <a:spcPct val="125000"/>
              </a:lnSpc>
              <a:spcBef>
                <a:spcPts val="0"/>
              </a:spcBef>
              <a:spcAft>
                <a:spcPts val="0"/>
              </a:spcAft>
              <a:buClr>
                <a:schemeClr val="dk1"/>
              </a:buClr>
              <a:buSzPts val="1100"/>
              <a:buFont typeface="Arial"/>
              <a:buNone/>
            </a:pPr>
            <a:r>
              <a:rPr lang="en-GB" sz="1200">
                <a:solidFill>
                  <a:schemeClr val="dk1"/>
                </a:solidFill>
              </a:rPr>
              <a:t>(Monitoring becomes much easier with clear and clean logs. The simple dashboard gives a quick overview of your system’s health, while alerts notify you right away if something goes wrong. This helps teams respond faster and avoid small issues becoming big problems.)</a:t>
            </a:r>
            <a:endParaRPr sz="1200">
              <a:solidFill>
                <a:schemeClr val="dk1"/>
              </a:solidFill>
            </a:endParaRPr>
          </a:p>
          <a:p>
            <a:pPr indent="0" lvl="0" marL="0" rtl="0" algn="l">
              <a:lnSpc>
                <a:spcPct val="125000"/>
              </a:lnSpc>
              <a:spcBef>
                <a:spcPts val="0"/>
              </a:spcBef>
              <a:spcAft>
                <a:spcPts val="0"/>
              </a:spcAft>
              <a:buClr>
                <a:schemeClr val="dk1"/>
              </a:buClr>
              <a:buSzPts val="1100"/>
              <a:buFont typeface="Arial"/>
              <a:buNone/>
            </a:pPr>
            <a:r>
              <a:rPr b="1" lang="en-GB" sz="1200">
                <a:solidFill>
                  <a:schemeClr val="dk1"/>
                </a:solidFill>
              </a:rPr>
              <a:t>💸 Cost View, Strengthened</a:t>
            </a:r>
            <a:endParaRPr b="1" sz="1200">
              <a:solidFill>
                <a:schemeClr val="dk1"/>
              </a:solidFill>
            </a:endParaRPr>
          </a:p>
          <a:p>
            <a:pPr indent="0" lvl="0" marL="0" rtl="0" algn="l">
              <a:lnSpc>
                <a:spcPct val="125000"/>
              </a:lnSpc>
              <a:spcBef>
                <a:spcPts val="0"/>
              </a:spcBef>
              <a:spcAft>
                <a:spcPts val="0"/>
              </a:spcAft>
              <a:buClr>
                <a:schemeClr val="dk1"/>
              </a:buClr>
              <a:buSzPts val="1100"/>
              <a:buFont typeface="Arial"/>
              <a:buNone/>
            </a:pPr>
            <a:r>
              <a:rPr lang="en-GB" sz="1200">
                <a:solidFill>
                  <a:schemeClr val="dk1"/>
                </a:solidFill>
              </a:rPr>
              <a:t>Breakdowns by service, region, or tag with budget vs. actual tracking and money-saving tips.</a:t>
            </a:r>
            <a:endParaRPr sz="1200">
              <a:solidFill>
                <a:schemeClr val="dk1"/>
              </a:solidFill>
            </a:endParaRPr>
          </a:p>
          <a:p>
            <a:pPr indent="0" lvl="0" marL="0" rtl="0" algn="l">
              <a:lnSpc>
                <a:spcPct val="12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25000"/>
              </a:lnSpc>
              <a:spcBef>
                <a:spcPts val="0"/>
              </a:spcBef>
              <a:spcAft>
                <a:spcPts val="0"/>
              </a:spcAft>
              <a:buClr>
                <a:schemeClr val="dk1"/>
              </a:buClr>
              <a:buSzPts val="1100"/>
              <a:buFont typeface="Arial"/>
              <a:buNone/>
            </a:pPr>
            <a:r>
              <a:rPr lang="en-GB" sz="1200">
                <a:solidFill>
                  <a:schemeClr val="dk1"/>
                </a:solidFill>
              </a:rPr>
              <a:t>(Keeping costs under control is just as important as security. This tool gives detailed breakdowns by service, region, or even by project tags. You can compare your budget against actual spending and also get tips on where to save money. This makes cloud costs predictable and easier to manage.</a:t>
            </a:r>
            <a:endParaRPr sz="1200">
              <a:solidFill>
                <a:schemeClr val="dk1"/>
              </a:solidFill>
            </a:endParaRPr>
          </a:p>
          <a:p>
            <a:pPr indent="0" lvl="0" marL="0" rtl="0" algn="l">
              <a:lnSpc>
                <a:spcPct val="125000"/>
              </a:lnSpc>
              <a:spcBef>
                <a:spcPts val="0"/>
              </a:spcBef>
              <a:spcAft>
                <a:spcPts val="0"/>
              </a:spcAft>
              <a:buClr>
                <a:schemeClr val="dk1"/>
              </a:buClr>
              <a:buSzPts val="1100"/>
              <a:buFont typeface="Arial"/>
              <a:buNone/>
            </a:pPr>
            <a:r>
              <a:rPr lang="en-GB" sz="1200">
                <a:solidFill>
                  <a:schemeClr val="dk1"/>
                </a:solidFill>
              </a:rPr>
              <a:t>)</a:t>
            </a:r>
            <a:endParaRPr sz="1200">
              <a:solidFill>
                <a:schemeClr val="dk1"/>
              </a:solidFill>
            </a:endParaRPr>
          </a:p>
          <a:p>
            <a:pPr indent="0" lvl="0" marL="0" rtl="0" algn="l">
              <a:lnSpc>
                <a:spcPct val="125000"/>
              </a:lnSpc>
              <a:spcBef>
                <a:spcPts val="0"/>
              </a:spcBef>
              <a:spcAft>
                <a:spcPts val="0"/>
              </a:spcAft>
              <a:buClr>
                <a:schemeClr val="dk1"/>
              </a:buClr>
              <a:buSzPts val="1100"/>
              <a:buFont typeface="Arial"/>
              <a:buNone/>
            </a:pPr>
            <a:r>
              <a:t/>
            </a:r>
            <a:endParaRPr b="1" sz="1200">
              <a:solidFill>
                <a:schemeClr val="dk1"/>
              </a:solidFill>
            </a:endParaRPr>
          </a:p>
          <a:p>
            <a:pPr indent="0" lvl="0" marL="0" rtl="0" algn="l">
              <a:lnSpc>
                <a:spcPct val="125000"/>
              </a:lnSpc>
              <a:spcBef>
                <a:spcPts val="0"/>
              </a:spcBef>
              <a:spcAft>
                <a:spcPts val="0"/>
              </a:spcAft>
              <a:buClr>
                <a:schemeClr val="dk1"/>
              </a:buClr>
              <a:buSzPts val="1100"/>
              <a:buFont typeface="Arial"/>
              <a:buNone/>
            </a:pPr>
            <a:r>
              <a:rPr b="1" lang="en-GB" sz="1200">
                <a:solidFill>
                  <a:schemeClr val="dk1"/>
                </a:solidFill>
              </a:rPr>
              <a:t>🧠 Smarter Bot Experience</a:t>
            </a:r>
            <a:endParaRPr b="1" sz="1200">
              <a:solidFill>
                <a:schemeClr val="dk1"/>
              </a:solidFill>
            </a:endParaRPr>
          </a:p>
          <a:p>
            <a:pPr indent="457200" lvl="0" marL="0" rtl="0" algn="l">
              <a:lnSpc>
                <a:spcPct val="125000"/>
              </a:lnSpc>
              <a:spcBef>
                <a:spcPts val="0"/>
              </a:spcBef>
              <a:spcAft>
                <a:spcPts val="0"/>
              </a:spcAft>
              <a:buClr>
                <a:schemeClr val="dk1"/>
              </a:buClr>
              <a:buSzPts val="1100"/>
              <a:buFont typeface="Arial"/>
              <a:buNone/>
            </a:pPr>
            <a:r>
              <a:rPr lang="en-GB" sz="1200">
                <a:solidFill>
                  <a:schemeClr val="dk1"/>
                </a:solidFill>
              </a:rPr>
              <a:t>Multi-language support, daily email reports with MP3 briefings, and smarter Q&amp;A for users.</a:t>
            </a:r>
            <a:endParaRPr sz="1200">
              <a:solidFill>
                <a:schemeClr val="dk1"/>
              </a:solidFill>
            </a:endParaRPr>
          </a:p>
          <a:p>
            <a:pPr indent="457200" lvl="0" marL="0" rtl="0" algn="l">
              <a:lnSpc>
                <a:spcPct val="125000"/>
              </a:lnSpc>
              <a:spcBef>
                <a:spcPts val="0"/>
              </a:spcBef>
              <a:spcAft>
                <a:spcPts val="0"/>
              </a:spcAft>
              <a:buClr>
                <a:schemeClr val="dk1"/>
              </a:buClr>
              <a:buSzPts val="1100"/>
              <a:buFont typeface="Arial"/>
              <a:buNone/>
            </a:pPr>
            <a:r>
              <a:t/>
            </a:r>
            <a:endParaRPr sz="1200">
              <a:solidFill>
                <a:schemeClr val="dk1"/>
              </a:solidFill>
            </a:endParaRPr>
          </a:p>
          <a:p>
            <a:pPr indent="457200" lvl="0" marL="0" rtl="0" algn="l">
              <a:lnSpc>
                <a:spcPct val="125000"/>
              </a:lnSpc>
              <a:spcBef>
                <a:spcPts val="0"/>
              </a:spcBef>
              <a:spcAft>
                <a:spcPts val="0"/>
              </a:spcAft>
              <a:buClr>
                <a:schemeClr val="dk1"/>
              </a:buClr>
              <a:buSzPts val="1100"/>
              <a:buFont typeface="Arial"/>
              <a:buNone/>
            </a:pPr>
            <a:r>
              <a:rPr lang="en-GB" sz="1200">
                <a:solidFill>
                  <a:schemeClr val="dk1"/>
                </a:solidFill>
              </a:rPr>
              <a:t>(The built-in bot makes the whole process smoother and smarter. It supports multiple languages, sends daily email reports, and can even provide audio MP3 briefings for quick updates. The bot also answers questions more intelligently, giving teams the right information faster.)</a:t>
            </a:r>
            <a:endParaRPr sz="1200">
              <a:solidFill>
                <a:schemeClr val="dk1"/>
              </a:solidFill>
            </a:endParaRPr>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808fa5dbd6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808fa5dbd6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
  <p:cSld name="TITLE_1">
    <p:spTree>
      <p:nvGrpSpPr>
        <p:cNvPr id="50" name="Shape 50"/>
        <p:cNvGrpSpPr/>
        <p:nvPr/>
      </p:nvGrpSpPr>
      <p:grpSpPr>
        <a:xfrm>
          <a:off x="0" y="0"/>
          <a:ext cx="0" cy="0"/>
          <a:chOff x="0" y="0"/>
          <a:chExt cx="0" cy="0"/>
        </a:xfrm>
      </p:grpSpPr>
      <p:cxnSp>
        <p:nvCxnSpPr>
          <p:cNvPr id="51" name="Google Shape;51;p13"/>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52" name="Google Shape;52;p13"/>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53" name="Google Shape;53;p13"/>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54" name="Google Shape;54;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D">
  <p:cSld name="TITLE_AND_BODY_2_1_1_1_1">
    <p:spTree>
      <p:nvGrpSpPr>
        <p:cNvPr id="55" name="Shape 55"/>
        <p:cNvGrpSpPr/>
        <p:nvPr/>
      </p:nvGrpSpPr>
      <p:grpSpPr>
        <a:xfrm>
          <a:off x="0" y="0"/>
          <a:ext cx="0" cy="0"/>
          <a:chOff x="0" y="0"/>
          <a:chExt cx="0" cy="0"/>
        </a:xfrm>
      </p:grpSpPr>
      <p:sp>
        <p:nvSpPr>
          <p:cNvPr id="56" name="Google Shape;56;p14"/>
          <p:cNvSpPr/>
          <p:nvPr>
            <p:ph idx="2" type="pic"/>
          </p:nvPr>
        </p:nvSpPr>
        <p:spPr>
          <a:xfrm>
            <a:off x="296299" y="316350"/>
            <a:ext cx="4510800" cy="4510800"/>
          </a:xfrm>
          <a:prstGeom prst="roundRect">
            <a:avLst>
              <a:gd fmla="val 50000" name="adj"/>
            </a:avLst>
          </a:prstGeom>
          <a:noFill/>
          <a:ln>
            <a:noFill/>
          </a:ln>
        </p:spPr>
      </p:sp>
      <p:sp>
        <p:nvSpPr>
          <p:cNvPr id="57" name="Google Shape;57;p14"/>
          <p:cNvSpPr txBox="1"/>
          <p:nvPr>
            <p:ph type="title"/>
          </p:nvPr>
        </p:nvSpPr>
        <p:spPr>
          <a:xfrm>
            <a:off x="5151925" y="289525"/>
            <a:ext cx="3548100" cy="1093500"/>
          </a:xfrm>
          <a:prstGeom prst="rect">
            <a:avLst/>
          </a:prstGeom>
        </p:spPr>
        <p:txBody>
          <a:bodyPr anchorCtr="0" anchor="t" bIns="0" lIns="0" spcFirstLastPara="1" rIns="0" wrap="square" tIns="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8" name="Google Shape;58;p14"/>
          <p:cNvSpPr txBox="1"/>
          <p:nvPr>
            <p:ph idx="1" type="body"/>
          </p:nvPr>
        </p:nvSpPr>
        <p:spPr>
          <a:xfrm>
            <a:off x="5151925" y="1565671"/>
            <a:ext cx="3548100" cy="3288300"/>
          </a:xfrm>
          <a:prstGeom prst="rect">
            <a:avLst/>
          </a:prstGeom>
        </p:spPr>
        <p:txBody>
          <a:bodyPr anchorCtr="0" anchor="t" bIns="0" lIns="0" spcFirstLastPara="1" rIns="0" wrap="square" tIns="0">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extLst>
    <p:ext uri="{DCECCB84-F9BA-43D5-87BE-67443E8EF086}">
      <p15:sldGuideLst>
        <p15:guide id="1" pos="288">
          <p15:clr>
            <a:srgbClr val="E46962"/>
          </p15:clr>
        </p15:guide>
        <p15:guide id="2" orient="horz" pos="288">
          <p15:clr>
            <a:srgbClr val="E46962"/>
          </p15:clr>
        </p15:guide>
        <p15:guide id="3" orient="horz" pos="2880">
          <p15:clr>
            <a:srgbClr val="E46962"/>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mc:AlternateContent>
    <mc:Choice Requires="p14">
      <p:transition p14:dur="100">
        <p:push/>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id="63" name="Google Shape;63;p15"/>
          <p:cNvPicPr preferRelativeResize="0"/>
          <p:nvPr/>
        </p:nvPicPr>
        <p:blipFill>
          <a:blip r:embed="rId3">
            <a:alphaModFix/>
          </a:blip>
          <a:stretch>
            <a:fillRect/>
          </a:stretch>
        </p:blipFill>
        <p:spPr>
          <a:xfrm>
            <a:off x="0" y="0"/>
            <a:ext cx="9144000" cy="5143500"/>
          </a:xfrm>
          <a:prstGeom prst="rect">
            <a:avLst/>
          </a:prstGeom>
          <a:noFill/>
          <a:ln>
            <a:noFill/>
          </a:ln>
        </p:spPr>
      </p:pic>
      <p:sp>
        <p:nvSpPr>
          <p:cNvPr id="64" name="Google Shape;64;p15"/>
          <p:cNvSpPr txBox="1"/>
          <p:nvPr>
            <p:ph idx="4294967295" type="ctrTitle"/>
          </p:nvPr>
        </p:nvSpPr>
        <p:spPr>
          <a:xfrm>
            <a:off x="745550" y="427325"/>
            <a:ext cx="7641600" cy="60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GB" sz="3600">
                <a:latin typeface="Montserrat"/>
                <a:ea typeface="Montserrat"/>
                <a:cs typeface="Montserrat"/>
                <a:sym typeface="Montserrat"/>
              </a:rPr>
              <a:t>Project : Johnny Cloud</a:t>
            </a:r>
            <a:endParaRPr b="1" sz="3600">
              <a:latin typeface="Montserrat"/>
              <a:ea typeface="Montserrat"/>
              <a:cs typeface="Montserrat"/>
              <a:sym typeface="Montserrat"/>
            </a:endParaRPr>
          </a:p>
        </p:txBody>
      </p:sp>
      <p:pic>
        <p:nvPicPr>
          <p:cNvPr id="65" name="Google Shape;65;p15"/>
          <p:cNvPicPr preferRelativeResize="0"/>
          <p:nvPr/>
        </p:nvPicPr>
        <p:blipFill>
          <a:blip r:embed="rId4">
            <a:alphaModFix/>
          </a:blip>
          <a:stretch>
            <a:fillRect/>
          </a:stretch>
        </p:blipFill>
        <p:spPr>
          <a:xfrm>
            <a:off x="5097125" y="1285738"/>
            <a:ext cx="3289925" cy="3289925"/>
          </a:xfrm>
          <a:prstGeom prst="rect">
            <a:avLst/>
          </a:prstGeom>
          <a:noFill/>
          <a:ln>
            <a:noFill/>
          </a:ln>
        </p:spPr>
      </p:pic>
      <p:sp>
        <p:nvSpPr>
          <p:cNvPr id="66" name="Google Shape;66;p15"/>
          <p:cNvSpPr txBox="1"/>
          <p:nvPr>
            <p:ph idx="4294967295" type="subTitle"/>
          </p:nvPr>
        </p:nvSpPr>
        <p:spPr>
          <a:xfrm>
            <a:off x="745550" y="1837275"/>
            <a:ext cx="4062300" cy="19764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b="1" lang="en-GB" sz="3000"/>
              <a:t>Johnny 5: Voice Activated AI-Powered Assistant for administrators</a:t>
            </a:r>
            <a:endParaRPr b="1" sz="3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0" name="Shape 70"/>
        <p:cNvGrpSpPr/>
        <p:nvPr/>
      </p:nvGrpSpPr>
      <p:grpSpPr>
        <a:xfrm>
          <a:off x="0" y="0"/>
          <a:ext cx="0" cy="0"/>
          <a:chOff x="0" y="0"/>
          <a:chExt cx="0" cy="0"/>
        </a:xfrm>
      </p:grpSpPr>
      <p:sp>
        <p:nvSpPr>
          <p:cNvPr id="71" name="Google Shape;71;p16"/>
          <p:cNvSpPr txBox="1"/>
          <p:nvPr>
            <p:ph type="title"/>
          </p:nvPr>
        </p:nvSpPr>
        <p:spPr>
          <a:xfrm>
            <a:off x="1221075" y="545575"/>
            <a:ext cx="7452900" cy="7761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600"/>
              </a:spcAft>
              <a:buNone/>
            </a:pPr>
            <a:r>
              <a:rPr b="1" lang="en-GB" sz="2900">
                <a:latin typeface="Montserrat"/>
                <a:ea typeface="Montserrat"/>
                <a:cs typeface="Montserrat"/>
                <a:sym typeface="Montserrat"/>
              </a:rPr>
              <a:t>The Minds behind Project Johnny Cloud </a:t>
            </a:r>
            <a:endParaRPr b="1" sz="2900">
              <a:latin typeface="Montserrat"/>
              <a:ea typeface="Montserrat"/>
              <a:cs typeface="Montserrat"/>
              <a:sym typeface="Montserrat"/>
            </a:endParaRPr>
          </a:p>
        </p:txBody>
      </p:sp>
      <p:sp>
        <p:nvSpPr>
          <p:cNvPr id="72" name="Google Shape;72;p16"/>
          <p:cNvSpPr txBox="1"/>
          <p:nvPr>
            <p:ph idx="1" type="body"/>
          </p:nvPr>
        </p:nvSpPr>
        <p:spPr>
          <a:xfrm>
            <a:off x="617100" y="1590800"/>
            <a:ext cx="5699400" cy="3463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GB" sz="2300">
                <a:solidFill>
                  <a:schemeClr val="dk1"/>
                </a:solidFill>
              </a:rPr>
              <a:t>Team:</a:t>
            </a:r>
            <a:r>
              <a:rPr lang="en-GB" sz="2300">
                <a:solidFill>
                  <a:schemeClr val="dk1"/>
                </a:solidFill>
              </a:rPr>
              <a:t> </a:t>
            </a:r>
            <a:endParaRPr sz="2300">
              <a:solidFill>
                <a:schemeClr val="dk1"/>
              </a:solidFill>
            </a:endParaRPr>
          </a:p>
          <a:p>
            <a:pPr indent="0" lvl="0" marL="0" rtl="0" algn="l">
              <a:lnSpc>
                <a:spcPct val="115000"/>
              </a:lnSpc>
              <a:spcBef>
                <a:spcPts val="0"/>
              </a:spcBef>
              <a:spcAft>
                <a:spcPts val="0"/>
              </a:spcAft>
              <a:buNone/>
            </a:pPr>
            <a:r>
              <a:t/>
            </a:r>
            <a:endParaRPr sz="23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GB" sz="2100">
                <a:solidFill>
                  <a:schemeClr val="dk1"/>
                </a:solidFill>
              </a:rPr>
              <a:t>🧑‍💼 Fredy Tapia (Project Manager) </a:t>
            </a:r>
            <a:endParaRPr b="1" sz="2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GB" sz="2100">
                <a:solidFill>
                  <a:schemeClr val="dk1"/>
                </a:solidFill>
              </a:rPr>
              <a:t>📈 Roman Canger (Business Analyst) </a:t>
            </a:r>
            <a:endParaRPr b="1" sz="2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GB" sz="2100">
                <a:solidFill>
                  <a:schemeClr val="dk1"/>
                </a:solidFill>
              </a:rPr>
              <a:t>🏛️ Hamad Iqbal (Architect) </a:t>
            </a:r>
            <a:endParaRPr b="1" sz="2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GB" sz="2100">
                <a:solidFill>
                  <a:schemeClr val="dk1"/>
                </a:solidFill>
              </a:rPr>
              <a:t>💻 Chandramati Hiregoudra (Architect/Developer) </a:t>
            </a:r>
            <a:endParaRPr b="1" sz="2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GB" sz="2100">
                <a:solidFill>
                  <a:schemeClr val="dk1"/>
                </a:solidFill>
              </a:rPr>
              <a:t>📱 Eskinder Kasshun (Developer)</a:t>
            </a:r>
            <a:endParaRPr b="1" sz="2100"/>
          </a:p>
        </p:txBody>
      </p:sp>
      <p:pic>
        <p:nvPicPr>
          <p:cNvPr descr="generate a team working on a project" id="73" name="Google Shape;73;p16"/>
          <p:cNvPicPr preferRelativeResize="0"/>
          <p:nvPr/>
        </p:nvPicPr>
        <p:blipFill>
          <a:blip r:embed="rId4">
            <a:alphaModFix/>
          </a:blip>
          <a:stretch>
            <a:fillRect/>
          </a:stretch>
        </p:blipFill>
        <p:spPr>
          <a:xfrm>
            <a:off x="6472425" y="1924125"/>
            <a:ext cx="2495950" cy="2495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71"/>
                                        </p:tgtEl>
                                        <p:attrNameLst>
                                          <p:attrName>style.visibility</p:attrName>
                                        </p:attrNameLst>
                                      </p:cBhvr>
                                      <p:to>
                                        <p:strVal val="visible"/>
                                      </p:to>
                                    </p:set>
                                    <p:anim calcmode="lin" valueType="num">
                                      <p:cBhvr additive="base">
                                        <p:cTn dur="100"/>
                                        <p:tgtEl>
                                          <p:spTgt spid="7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3"/>
                                        </p:tgtEl>
                                        <p:attrNameLst>
                                          <p:attrName>style.visibility</p:attrName>
                                        </p:attrNameLst>
                                      </p:cBhvr>
                                      <p:to>
                                        <p:strVal val="visible"/>
                                      </p:to>
                                    </p:set>
                                    <p:anim calcmode="lin" valueType="num">
                                      <p:cBhvr additive="base">
                                        <p:cTn dur="1000"/>
                                        <p:tgtEl>
                                          <p:spTgt spid="73"/>
                                        </p:tgtEl>
                                        <p:attrNameLst>
                                          <p:attrName>ppt_w</p:attrName>
                                        </p:attrNameLst>
                                      </p:cBhvr>
                                      <p:tavLst>
                                        <p:tav fmla="" tm="0">
                                          <p:val>
                                            <p:strVal val="0"/>
                                          </p:val>
                                        </p:tav>
                                        <p:tav fmla="" tm="100000">
                                          <p:val>
                                            <p:strVal val="#ppt_w"/>
                                          </p:val>
                                        </p:tav>
                                      </p:tavLst>
                                    </p:anim>
                                    <p:anim calcmode="lin" valueType="num">
                                      <p:cBhvr additive="base">
                                        <p:cTn dur="1000"/>
                                        <p:tgtEl>
                                          <p:spTgt spid="7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72"/>
                                        </p:tgtEl>
                                        <p:attrNameLst>
                                          <p:attrName>style.visibility</p:attrName>
                                        </p:attrNameLst>
                                      </p:cBhvr>
                                      <p:to>
                                        <p:strVal val="visible"/>
                                      </p:to>
                                    </p:set>
                                    <p:anim calcmode="lin" valueType="num">
                                      <p:cBhvr additive="base">
                                        <p:cTn dur="1000"/>
                                        <p:tgtEl>
                                          <p:spTgt spid="7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7" name="Shape 77"/>
        <p:cNvGrpSpPr/>
        <p:nvPr/>
      </p:nvGrpSpPr>
      <p:grpSpPr>
        <a:xfrm>
          <a:off x="0" y="0"/>
          <a:ext cx="0" cy="0"/>
          <a:chOff x="0" y="0"/>
          <a:chExt cx="0" cy="0"/>
        </a:xfrm>
      </p:grpSpPr>
      <p:sp>
        <p:nvSpPr>
          <p:cNvPr id="78" name="Google Shape;78;p17"/>
          <p:cNvSpPr txBox="1"/>
          <p:nvPr>
            <p:ph idx="4294967295" type="body"/>
          </p:nvPr>
        </p:nvSpPr>
        <p:spPr>
          <a:xfrm>
            <a:off x="308500" y="2571750"/>
            <a:ext cx="4642500" cy="195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2400">
              <a:solidFill>
                <a:srgbClr val="1B1C1D"/>
              </a:solidFill>
            </a:endParaRPr>
          </a:p>
          <a:p>
            <a:pPr indent="0" lvl="0" marL="457200" rtl="0" algn="l">
              <a:lnSpc>
                <a:spcPct val="80000"/>
              </a:lnSpc>
              <a:spcBef>
                <a:spcPts val="1200"/>
              </a:spcBef>
              <a:spcAft>
                <a:spcPts val="0"/>
              </a:spcAft>
              <a:buNone/>
            </a:pPr>
            <a:r>
              <a:t/>
            </a:r>
            <a:endParaRPr sz="2700">
              <a:solidFill>
                <a:schemeClr val="dk1"/>
              </a:solidFill>
            </a:endParaRPr>
          </a:p>
        </p:txBody>
      </p:sp>
      <p:pic>
        <p:nvPicPr>
          <p:cNvPr id="79" name="Google Shape;79;p17" title="image (1).png"/>
          <p:cNvPicPr preferRelativeResize="0"/>
          <p:nvPr/>
        </p:nvPicPr>
        <p:blipFill>
          <a:blip r:embed="rId4">
            <a:alphaModFix/>
          </a:blip>
          <a:stretch>
            <a:fillRect/>
          </a:stretch>
        </p:blipFill>
        <p:spPr>
          <a:xfrm>
            <a:off x="2250750" y="431725"/>
            <a:ext cx="4642501" cy="46425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sp>
        <p:nvSpPr>
          <p:cNvPr id="84" name="Google Shape;84;p18"/>
          <p:cNvSpPr txBox="1"/>
          <p:nvPr>
            <p:ph type="title"/>
          </p:nvPr>
        </p:nvSpPr>
        <p:spPr>
          <a:xfrm>
            <a:off x="1048250" y="351700"/>
            <a:ext cx="73398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GB" sz="2900">
                <a:latin typeface="Montserrat"/>
                <a:ea typeface="Montserrat"/>
                <a:cs typeface="Montserrat"/>
                <a:sym typeface="Montserrat"/>
              </a:rPr>
              <a:t>Business Productivity Impact</a:t>
            </a:r>
            <a:endParaRPr b="1" sz="2900">
              <a:latin typeface="Montserrat"/>
              <a:ea typeface="Montserrat"/>
              <a:cs typeface="Montserrat"/>
              <a:sym typeface="Montserrat"/>
            </a:endParaRPr>
          </a:p>
        </p:txBody>
      </p:sp>
      <p:sp>
        <p:nvSpPr>
          <p:cNvPr id="85" name="Google Shape;85;p18"/>
          <p:cNvSpPr txBox="1"/>
          <p:nvPr/>
        </p:nvSpPr>
        <p:spPr>
          <a:xfrm>
            <a:off x="1114250" y="1540975"/>
            <a:ext cx="7207800" cy="323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GB" sz="2000">
                <a:solidFill>
                  <a:schemeClr val="dk1"/>
                </a:solidFill>
              </a:rPr>
              <a:t>📉 Reduce cloud cost with intelligent cost insights </a:t>
            </a:r>
            <a:endParaRPr sz="2000">
              <a:solidFill>
                <a:schemeClr val="dk1"/>
              </a:solidFill>
            </a:endParaRPr>
          </a:p>
          <a:p>
            <a:pPr indent="0" lvl="0" marL="0" rtl="0" algn="l">
              <a:lnSpc>
                <a:spcPct val="115000"/>
              </a:lnSpc>
              <a:spcBef>
                <a:spcPts val="1200"/>
              </a:spcBef>
              <a:spcAft>
                <a:spcPts val="0"/>
              </a:spcAft>
              <a:buNone/>
            </a:pPr>
            <a:r>
              <a:rPr lang="en-GB" sz="2000">
                <a:solidFill>
                  <a:schemeClr val="dk1"/>
                </a:solidFill>
              </a:rPr>
              <a:t>🔒 Strengthen security posture with automated guardrails</a:t>
            </a:r>
            <a:endParaRPr sz="2000">
              <a:solidFill>
                <a:schemeClr val="dk1"/>
              </a:solidFill>
            </a:endParaRPr>
          </a:p>
          <a:p>
            <a:pPr indent="0" lvl="0" marL="0" rtl="0" algn="l">
              <a:lnSpc>
                <a:spcPct val="115000"/>
              </a:lnSpc>
              <a:spcBef>
                <a:spcPts val="1200"/>
              </a:spcBef>
              <a:spcAft>
                <a:spcPts val="0"/>
              </a:spcAft>
              <a:buNone/>
            </a:pPr>
            <a:r>
              <a:rPr lang="en-GB" sz="2000">
                <a:solidFill>
                  <a:schemeClr val="dk1"/>
                </a:solidFill>
              </a:rPr>
              <a:t>📈 Build a clear business case for cloud adoption and optimization</a:t>
            </a:r>
            <a:endParaRPr sz="2000">
              <a:solidFill>
                <a:schemeClr val="dk1"/>
              </a:solidFill>
            </a:endParaRPr>
          </a:p>
          <a:p>
            <a:pPr indent="0" lvl="0" marL="0" rtl="0" algn="l">
              <a:lnSpc>
                <a:spcPct val="115000"/>
              </a:lnSpc>
              <a:spcBef>
                <a:spcPts val="1200"/>
              </a:spcBef>
              <a:spcAft>
                <a:spcPts val="0"/>
              </a:spcAft>
              <a:buNone/>
            </a:pPr>
            <a:r>
              <a:rPr lang="en-GB" sz="2000">
                <a:solidFill>
                  <a:schemeClr val="dk1"/>
                </a:solidFill>
              </a:rPr>
              <a:t>🤖 Empower teams with AI-driven guidance and voice </a:t>
            </a:r>
            <a:r>
              <a:rPr lang="en-GB" sz="2000">
                <a:solidFill>
                  <a:schemeClr val="dk1"/>
                </a:solidFill>
              </a:rPr>
              <a:t>interaction</a:t>
            </a:r>
            <a:endParaRPr sz="2000">
              <a:solidFill>
                <a:schemeClr val="dk1"/>
              </a:solidFill>
            </a:endParaRPr>
          </a:p>
          <a:p>
            <a:pPr indent="0" lvl="0" marL="0" rtl="0" algn="l">
              <a:lnSpc>
                <a:spcPct val="115000"/>
              </a:lnSpc>
              <a:spcBef>
                <a:spcPts val="1200"/>
              </a:spcBef>
              <a:spcAft>
                <a:spcPts val="1200"/>
              </a:spcAft>
              <a:buNone/>
            </a:pPr>
            <a:r>
              <a:rPr lang="en-GB" sz="2000">
                <a:solidFill>
                  <a:schemeClr val="dk1"/>
                </a:solidFill>
              </a:rPr>
              <a:t>⌛Give back time to your employees to be creative</a:t>
            </a:r>
            <a:endParaRPr sz="20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sp>
        <p:nvSpPr>
          <p:cNvPr id="90" name="Google Shape;90;p19"/>
          <p:cNvSpPr txBox="1"/>
          <p:nvPr>
            <p:ph type="title"/>
          </p:nvPr>
        </p:nvSpPr>
        <p:spPr>
          <a:xfrm>
            <a:off x="1890750" y="324775"/>
            <a:ext cx="5362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GB" sz="3020">
                <a:latin typeface="Montserrat"/>
                <a:ea typeface="Montserrat"/>
                <a:cs typeface="Montserrat"/>
                <a:sym typeface="Montserrat"/>
              </a:rPr>
              <a:t>What can Johnny 5 do?</a:t>
            </a:r>
            <a:endParaRPr b="1" sz="3020">
              <a:latin typeface="Montserrat"/>
              <a:ea typeface="Montserrat"/>
              <a:cs typeface="Montserrat"/>
              <a:sym typeface="Montserrat"/>
            </a:endParaRPr>
          </a:p>
        </p:txBody>
      </p:sp>
      <p:sp>
        <p:nvSpPr>
          <p:cNvPr id="91" name="Google Shape;91;p19"/>
          <p:cNvSpPr txBox="1"/>
          <p:nvPr>
            <p:ph idx="1" type="body"/>
          </p:nvPr>
        </p:nvSpPr>
        <p:spPr>
          <a:xfrm>
            <a:off x="290500" y="1308525"/>
            <a:ext cx="5574300" cy="3110100"/>
          </a:xfrm>
          <a:prstGeom prst="rect">
            <a:avLst/>
          </a:prstGeom>
        </p:spPr>
        <p:txBody>
          <a:bodyPr anchorCtr="0" anchor="t" bIns="91425" lIns="91425" spcFirstLastPara="1" rIns="91425" wrap="square" tIns="91425">
            <a:normAutofit fontScale="92500"/>
          </a:bodyPr>
          <a:lstStyle/>
          <a:p>
            <a:pPr indent="0" lvl="0" marL="0" rtl="0" algn="l">
              <a:spcBef>
                <a:spcPts val="1400"/>
              </a:spcBef>
              <a:spcAft>
                <a:spcPts val="0"/>
              </a:spcAft>
              <a:buClr>
                <a:schemeClr val="dk1"/>
              </a:buClr>
              <a:buSzPct val="40882"/>
              <a:buFont typeface="Arial"/>
              <a:buNone/>
            </a:pPr>
            <a:r>
              <a:rPr b="1" lang="en-GB" sz="2690">
                <a:solidFill>
                  <a:schemeClr val="dk1"/>
                </a:solidFill>
              </a:rPr>
              <a:t>Regain Your Time with AI</a:t>
            </a:r>
            <a:endParaRPr b="1" sz="2690">
              <a:solidFill>
                <a:schemeClr val="dk1"/>
              </a:solidFill>
            </a:endParaRPr>
          </a:p>
          <a:p>
            <a:pPr indent="0" lvl="0" marL="0" rtl="0" algn="l">
              <a:spcBef>
                <a:spcPts val="1400"/>
              </a:spcBef>
              <a:spcAft>
                <a:spcPts val="0"/>
              </a:spcAft>
              <a:buClr>
                <a:schemeClr val="dk1"/>
              </a:buClr>
              <a:buSzPct val="40882"/>
              <a:buFont typeface="Arial"/>
              <a:buNone/>
            </a:pPr>
            <a:r>
              <a:rPr b="1" lang="en-GB" sz="2690">
                <a:solidFill>
                  <a:schemeClr val="dk1"/>
                </a:solidFill>
              </a:rPr>
              <a:t> </a:t>
            </a:r>
            <a:endParaRPr b="1" sz="2690">
              <a:solidFill>
                <a:schemeClr val="dk1"/>
              </a:solidFill>
            </a:endParaRPr>
          </a:p>
          <a:p>
            <a:pPr indent="0" lvl="0" marL="0" rtl="0" algn="l">
              <a:spcBef>
                <a:spcPts val="1200"/>
              </a:spcBef>
              <a:spcAft>
                <a:spcPts val="0"/>
              </a:spcAft>
              <a:buNone/>
            </a:pPr>
            <a:r>
              <a:rPr lang="en-GB" sz="2400">
                <a:solidFill>
                  <a:schemeClr val="dk1"/>
                </a:solidFill>
              </a:rPr>
              <a:t>🗣️ Voice Activated Chat Bot with Artificial Intelligence </a:t>
            </a:r>
            <a:endParaRPr sz="2400">
              <a:solidFill>
                <a:schemeClr val="dk1"/>
              </a:solidFill>
            </a:endParaRPr>
          </a:p>
          <a:p>
            <a:pPr indent="0" lvl="0" marL="0" rtl="0" algn="l">
              <a:spcBef>
                <a:spcPts val="1200"/>
              </a:spcBef>
              <a:spcAft>
                <a:spcPts val="0"/>
              </a:spcAft>
              <a:buNone/>
            </a:pPr>
            <a:r>
              <a:rPr lang="en-GB" sz="2400">
                <a:solidFill>
                  <a:schemeClr val="dk1"/>
                </a:solidFill>
              </a:rPr>
              <a:t>🤖 Automate repetitive tasks and reports</a:t>
            </a:r>
            <a:endParaRPr sz="2400">
              <a:solidFill>
                <a:schemeClr val="dk1"/>
              </a:solidFill>
            </a:endParaRPr>
          </a:p>
          <a:p>
            <a:pPr indent="0" lvl="0" marL="0" rtl="0" algn="l">
              <a:spcBef>
                <a:spcPts val="1200"/>
              </a:spcBef>
              <a:spcAft>
                <a:spcPts val="1200"/>
              </a:spcAft>
              <a:buNone/>
            </a:pPr>
            <a:r>
              <a:t/>
            </a:r>
            <a:endParaRPr b="1" sz="1100">
              <a:solidFill>
                <a:schemeClr val="dk1"/>
              </a:solidFill>
            </a:endParaRPr>
          </a:p>
        </p:txBody>
      </p:sp>
      <p:pic>
        <p:nvPicPr>
          <p:cNvPr id="92" name="Google Shape;92;p19"/>
          <p:cNvPicPr preferRelativeResize="0"/>
          <p:nvPr/>
        </p:nvPicPr>
        <p:blipFill>
          <a:blip r:embed="rId4">
            <a:alphaModFix/>
          </a:blip>
          <a:stretch>
            <a:fillRect/>
          </a:stretch>
        </p:blipFill>
        <p:spPr>
          <a:xfrm>
            <a:off x="6008900" y="1478387"/>
            <a:ext cx="3013425" cy="29402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92"/>
                                        </p:tgtEl>
                                        <p:attrNameLst>
                                          <p:attrName>style.visibility</p:attrName>
                                        </p:attrNameLst>
                                      </p:cBhvr>
                                      <p:to>
                                        <p:strVal val="visible"/>
                                      </p:to>
                                    </p:set>
                                    <p:anim calcmode="lin" valueType="num">
                                      <p:cBhvr additive="base">
                                        <p:cTn dur="1000"/>
                                        <p:tgtEl>
                                          <p:spTgt spid="9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91"/>
                                        </p:tgtEl>
                                        <p:attrNameLst>
                                          <p:attrName>style.visibility</p:attrName>
                                        </p:attrNameLst>
                                      </p:cBhvr>
                                      <p:to>
                                        <p:strVal val="visible"/>
                                      </p:to>
                                    </p:set>
                                    <p:anim calcmode="lin" valueType="num">
                                      <p:cBhvr additive="base">
                                        <p:cTn dur="1000"/>
                                        <p:tgtEl>
                                          <p:spTgt spid="9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6" name="Shape 96"/>
        <p:cNvGrpSpPr/>
        <p:nvPr/>
      </p:nvGrpSpPr>
      <p:grpSpPr>
        <a:xfrm>
          <a:off x="0" y="0"/>
          <a:ext cx="0" cy="0"/>
          <a:chOff x="0" y="0"/>
          <a:chExt cx="0" cy="0"/>
        </a:xfrm>
      </p:grpSpPr>
      <p:sp>
        <p:nvSpPr>
          <p:cNvPr id="97" name="Google Shape;97;p20"/>
          <p:cNvSpPr txBox="1"/>
          <p:nvPr>
            <p:ph type="title"/>
          </p:nvPr>
        </p:nvSpPr>
        <p:spPr>
          <a:xfrm>
            <a:off x="575425" y="445025"/>
            <a:ext cx="8101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GB" sz="2920">
                <a:latin typeface="Montserrat"/>
                <a:ea typeface="Montserrat"/>
                <a:cs typeface="Montserrat"/>
                <a:sym typeface="Montserrat"/>
              </a:rPr>
              <a:t>What can Johnny Cloud do?</a:t>
            </a:r>
            <a:endParaRPr b="1" sz="2920">
              <a:latin typeface="Montserrat"/>
              <a:ea typeface="Montserrat"/>
              <a:cs typeface="Montserrat"/>
              <a:sym typeface="Montserrat"/>
            </a:endParaRPr>
          </a:p>
        </p:txBody>
      </p:sp>
      <p:sp>
        <p:nvSpPr>
          <p:cNvPr id="98" name="Google Shape;98;p20"/>
          <p:cNvSpPr txBox="1"/>
          <p:nvPr>
            <p:ph idx="1" type="body"/>
          </p:nvPr>
        </p:nvSpPr>
        <p:spPr>
          <a:xfrm>
            <a:off x="527700" y="1142850"/>
            <a:ext cx="5121900" cy="34887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Clr>
                <a:schemeClr val="dk1"/>
              </a:buClr>
              <a:buSzPct val="100000"/>
              <a:buFont typeface="Arial"/>
              <a:buNone/>
            </a:pPr>
            <a:r>
              <a:t/>
            </a:r>
            <a:endParaRPr sz="1100">
              <a:solidFill>
                <a:srgbClr val="1B1C1D"/>
              </a:solidFill>
            </a:endParaRPr>
          </a:p>
          <a:p>
            <a:pPr indent="0" lvl="0" marL="0" rtl="0" algn="l">
              <a:spcBef>
                <a:spcPts val="600"/>
              </a:spcBef>
              <a:spcAft>
                <a:spcPts val="0"/>
              </a:spcAft>
              <a:buClr>
                <a:schemeClr val="dk1"/>
              </a:buClr>
              <a:buSzPts val="275"/>
              <a:buFont typeface="Arial"/>
              <a:buNone/>
            </a:pPr>
            <a:r>
              <a:rPr lang="en-GB" sz="8400">
                <a:solidFill>
                  <a:srgbClr val="1B1C1D"/>
                </a:solidFill>
              </a:rPr>
              <a:t>🔒 It can answer questions about cost, security, compliance.</a:t>
            </a:r>
            <a:endParaRPr sz="8400">
              <a:solidFill>
                <a:srgbClr val="1B1C1D"/>
              </a:solidFill>
            </a:endParaRPr>
          </a:p>
          <a:p>
            <a:pPr indent="0" lvl="0" marL="0" rtl="0" algn="l">
              <a:spcBef>
                <a:spcPts val="1200"/>
              </a:spcBef>
              <a:spcAft>
                <a:spcPts val="0"/>
              </a:spcAft>
              <a:buClr>
                <a:schemeClr val="dk1"/>
              </a:buClr>
              <a:buSzPts val="275"/>
              <a:buFont typeface="Arial"/>
              <a:buNone/>
            </a:pPr>
            <a:r>
              <a:rPr lang="en-GB" sz="8400">
                <a:solidFill>
                  <a:srgbClr val="1B1C1D"/>
                </a:solidFill>
              </a:rPr>
              <a:t>🗣️ It supports voice input and spoken responses for seamless accessibility and hands-free cloud control.</a:t>
            </a:r>
            <a:endParaRPr sz="8400">
              <a:solidFill>
                <a:srgbClr val="1B1C1D"/>
              </a:solidFill>
            </a:endParaRPr>
          </a:p>
          <a:p>
            <a:pPr indent="0" lvl="0" marL="0" rtl="0" algn="l">
              <a:spcBef>
                <a:spcPts val="1200"/>
              </a:spcBef>
              <a:spcAft>
                <a:spcPts val="0"/>
              </a:spcAft>
              <a:buClr>
                <a:schemeClr val="dk1"/>
              </a:buClr>
              <a:buSzPts val="275"/>
              <a:buFont typeface="Arial"/>
              <a:buNone/>
            </a:pPr>
            <a:r>
              <a:rPr lang="en-GB" sz="8400">
                <a:solidFill>
                  <a:srgbClr val="1B1C1D"/>
                </a:solidFill>
              </a:rPr>
              <a:t>🤝 It is designed to assist FinOps, SecOps, and administrators for repetitive and automatable tasks.</a:t>
            </a:r>
            <a:endParaRPr sz="8400">
              <a:solidFill>
                <a:srgbClr val="1B1C1D"/>
              </a:solidFill>
            </a:endParaRPr>
          </a:p>
          <a:p>
            <a:pPr indent="0" lvl="0" marL="457200" rtl="0" algn="l">
              <a:lnSpc>
                <a:spcPct val="150000"/>
              </a:lnSpc>
              <a:spcBef>
                <a:spcPts val="1200"/>
              </a:spcBef>
              <a:spcAft>
                <a:spcPts val="0"/>
              </a:spcAft>
              <a:buNone/>
            </a:pPr>
            <a:r>
              <a:t/>
            </a:r>
            <a:endParaRPr sz="1100">
              <a:solidFill>
                <a:srgbClr val="1B1C1D"/>
              </a:solidFill>
            </a:endParaRPr>
          </a:p>
          <a:p>
            <a:pPr indent="0" lvl="0" marL="457200" rtl="0" algn="l">
              <a:spcBef>
                <a:spcPts val="1800"/>
              </a:spcBef>
              <a:spcAft>
                <a:spcPts val="0"/>
              </a:spcAft>
              <a:buNone/>
            </a:pPr>
            <a:r>
              <a:t/>
            </a:r>
            <a:endParaRPr sz="3049">
              <a:solidFill>
                <a:schemeClr val="dk1"/>
              </a:solidFill>
            </a:endParaRPr>
          </a:p>
          <a:p>
            <a:pPr indent="0" lvl="0" marL="0" rtl="0" algn="l">
              <a:spcBef>
                <a:spcPts val="1200"/>
              </a:spcBef>
              <a:spcAft>
                <a:spcPts val="1200"/>
              </a:spcAft>
              <a:buNone/>
            </a:pPr>
            <a:r>
              <a:t/>
            </a:r>
            <a:endParaRPr/>
          </a:p>
        </p:txBody>
      </p:sp>
      <p:pic>
        <p:nvPicPr>
          <p:cNvPr id="99" name="Google Shape;99;p20" title="image (1).png"/>
          <p:cNvPicPr preferRelativeResize="0"/>
          <p:nvPr/>
        </p:nvPicPr>
        <p:blipFill rotWithShape="1">
          <a:blip r:embed="rId4">
            <a:alphaModFix/>
          </a:blip>
          <a:srcRect b="0" l="16667" r="16667" t="0"/>
          <a:stretch/>
        </p:blipFill>
        <p:spPr>
          <a:xfrm>
            <a:off x="5776500" y="1341075"/>
            <a:ext cx="3092248" cy="3092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8"/>
                                        </p:tgtEl>
                                        <p:attrNameLst>
                                          <p:attrName>style.visibility</p:attrName>
                                        </p:attrNameLst>
                                      </p:cBhvr>
                                      <p:to>
                                        <p:strVal val="visible"/>
                                      </p:to>
                                    </p:set>
                                    <p:anim calcmode="lin" valueType="num">
                                      <p:cBhvr additive="base">
                                        <p:cTn dur="1000"/>
                                        <p:tgtEl>
                                          <p:spTgt spid="9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99"/>
                                        </p:tgtEl>
                                        <p:attrNameLst>
                                          <p:attrName>style.visibility</p:attrName>
                                        </p:attrNameLst>
                                      </p:cBhvr>
                                      <p:to>
                                        <p:strVal val="visible"/>
                                      </p:to>
                                    </p:set>
                                    <p:anim calcmode="lin" valueType="num">
                                      <p:cBhvr additive="base">
                                        <p:cTn dur="1000"/>
                                        <p:tgtEl>
                                          <p:spTgt spid="9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103" name="Shape 103"/>
        <p:cNvGrpSpPr/>
        <p:nvPr/>
      </p:nvGrpSpPr>
      <p:grpSpPr>
        <a:xfrm>
          <a:off x="0" y="0"/>
          <a:ext cx="0" cy="0"/>
          <a:chOff x="0" y="0"/>
          <a:chExt cx="0" cy="0"/>
        </a:xfrm>
      </p:grpSpPr>
      <p:sp>
        <p:nvSpPr>
          <p:cNvPr id="104" name="Google Shape;104;p21"/>
          <p:cNvSpPr txBox="1"/>
          <p:nvPr>
            <p:ph type="title"/>
          </p:nvPr>
        </p:nvSpPr>
        <p:spPr>
          <a:xfrm>
            <a:off x="873625" y="327225"/>
            <a:ext cx="4972200" cy="497400"/>
          </a:xfrm>
          <a:prstGeom prst="rect">
            <a:avLst/>
          </a:prstGeom>
        </p:spPr>
        <p:txBody>
          <a:bodyPr anchorCtr="0" anchor="t" bIns="85200" lIns="85200" spcFirstLastPara="1" rIns="85200" wrap="square" tIns="85200">
            <a:noAutofit/>
          </a:bodyPr>
          <a:lstStyle/>
          <a:p>
            <a:pPr indent="0" lvl="0" marL="0" rtl="0" algn="l">
              <a:spcBef>
                <a:spcPts val="0"/>
              </a:spcBef>
              <a:spcAft>
                <a:spcPts val="0"/>
              </a:spcAft>
              <a:buSzPts val="923"/>
              <a:buNone/>
            </a:pPr>
            <a:r>
              <a:rPr b="1" lang="en-GB" sz="2921">
                <a:latin typeface="Montserrat"/>
                <a:ea typeface="Montserrat"/>
                <a:cs typeface="Montserrat"/>
                <a:sym typeface="Montserrat"/>
              </a:rPr>
              <a:t>Johnny Cloud RoadMap</a:t>
            </a:r>
            <a:endParaRPr b="1" sz="2921">
              <a:latin typeface="Montserrat"/>
              <a:ea typeface="Montserrat"/>
              <a:cs typeface="Montserrat"/>
              <a:sym typeface="Montserrat"/>
            </a:endParaRPr>
          </a:p>
        </p:txBody>
      </p:sp>
      <p:sp>
        <p:nvSpPr>
          <p:cNvPr id="105" name="Google Shape;105;p21"/>
          <p:cNvSpPr txBox="1"/>
          <p:nvPr>
            <p:ph idx="1" type="body"/>
          </p:nvPr>
        </p:nvSpPr>
        <p:spPr>
          <a:xfrm>
            <a:off x="396975" y="1995725"/>
            <a:ext cx="4226400" cy="2980200"/>
          </a:xfrm>
          <a:prstGeom prst="rect">
            <a:avLst/>
          </a:prstGeom>
        </p:spPr>
        <p:txBody>
          <a:bodyPr anchorCtr="0" anchor="t" bIns="85200" lIns="85200" spcFirstLastPara="1" rIns="85200" wrap="square" tIns="85200">
            <a:noAutofit/>
          </a:bodyPr>
          <a:lstStyle/>
          <a:p>
            <a:pPr indent="0" lvl="0" marL="426087" rtl="0" algn="l">
              <a:spcBef>
                <a:spcPts val="1200"/>
              </a:spcBef>
              <a:spcAft>
                <a:spcPts val="0"/>
              </a:spcAft>
              <a:buNone/>
            </a:pPr>
            <a:r>
              <a:rPr lang="en-GB" sz="1900">
                <a:solidFill>
                  <a:schemeClr val="dk1"/>
                </a:solidFill>
              </a:rPr>
              <a:t>🚀 V1 – Foundations (July 2025) </a:t>
            </a:r>
            <a:endParaRPr sz="1900">
              <a:solidFill>
                <a:schemeClr val="dk1"/>
              </a:solidFill>
            </a:endParaRPr>
          </a:p>
          <a:p>
            <a:pPr indent="0" lvl="0" marL="426087" rtl="0" algn="l">
              <a:spcBef>
                <a:spcPts val="1200"/>
              </a:spcBef>
              <a:spcAft>
                <a:spcPts val="0"/>
              </a:spcAft>
              <a:buNone/>
            </a:pPr>
            <a:r>
              <a:rPr lang="en-GB" sz="1900">
                <a:solidFill>
                  <a:schemeClr val="dk1"/>
                </a:solidFill>
              </a:rPr>
              <a:t>🏗️ Landing Zone </a:t>
            </a:r>
            <a:endParaRPr sz="1900">
              <a:solidFill>
                <a:schemeClr val="dk1"/>
              </a:solidFill>
            </a:endParaRPr>
          </a:p>
          <a:p>
            <a:pPr indent="0" lvl="0" marL="426087" rtl="0" algn="l">
              <a:spcBef>
                <a:spcPts val="1200"/>
              </a:spcBef>
              <a:spcAft>
                <a:spcPts val="0"/>
              </a:spcAft>
              <a:buNone/>
            </a:pPr>
            <a:r>
              <a:rPr lang="en-GB" sz="1900">
                <a:solidFill>
                  <a:schemeClr val="dk1"/>
                </a:solidFill>
              </a:rPr>
              <a:t>📊 Metrics Dashboard</a:t>
            </a:r>
            <a:endParaRPr sz="1900">
              <a:solidFill>
                <a:schemeClr val="dk1"/>
              </a:solidFill>
            </a:endParaRPr>
          </a:p>
          <a:p>
            <a:pPr indent="0" lvl="0" marL="426087" rtl="0" algn="l">
              <a:spcBef>
                <a:spcPts val="1200"/>
              </a:spcBef>
              <a:spcAft>
                <a:spcPts val="0"/>
              </a:spcAft>
              <a:buNone/>
            </a:pPr>
            <a:r>
              <a:rPr lang="en-GB" sz="1900">
                <a:solidFill>
                  <a:schemeClr val="dk1"/>
                </a:solidFill>
              </a:rPr>
              <a:t>✅ Guardrails (August 2025)  </a:t>
            </a:r>
            <a:endParaRPr sz="1900">
              <a:solidFill>
                <a:schemeClr val="dk1"/>
              </a:solidFill>
            </a:endParaRPr>
          </a:p>
          <a:p>
            <a:pPr indent="0" lvl="0" marL="426087" rtl="0" algn="l">
              <a:spcBef>
                <a:spcPts val="1200"/>
              </a:spcBef>
              <a:spcAft>
                <a:spcPts val="0"/>
              </a:spcAft>
              <a:buNone/>
            </a:pPr>
            <a:r>
              <a:rPr lang="en-GB" sz="1900">
                <a:solidFill>
                  <a:schemeClr val="dk1"/>
                </a:solidFill>
              </a:rPr>
              <a:t>🔒 CIS/NIST controls </a:t>
            </a:r>
            <a:endParaRPr sz="1900">
              <a:solidFill>
                <a:schemeClr val="dk1"/>
              </a:solidFill>
            </a:endParaRPr>
          </a:p>
          <a:p>
            <a:pPr indent="0" lvl="0" marL="426087" rtl="0" algn="l">
              <a:spcBef>
                <a:spcPts val="1200"/>
              </a:spcBef>
              <a:spcAft>
                <a:spcPts val="0"/>
              </a:spcAft>
              <a:buNone/>
            </a:pPr>
            <a:r>
              <a:rPr lang="en-GB" sz="1900">
                <a:solidFill>
                  <a:schemeClr val="dk1"/>
                </a:solidFill>
              </a:rPr>
              <a:t>⚙️ Auto-remediation</a:t>
            </a:r>
            <a:endParaRPr sz="1900">
              <a:solidFill>
                <a:schemeClr val="dk1"/>
              </a:solidFill>
            </a:endParaRPr>
          </a:p>
          <a:p>
            <a:pPr indent="0" lvl="0" marL="0" rtl="0" algn="l">
              <a:lnSpc>
                <a:spcPct val="100000"/>
              </a:lnSpc>
              <a:spcBef>
                <a:spcPts val="1200"/>
              </a:spcBef>
              <a:spcAft>
                <a:spcPts val="0"/>
              </a:spcAft>
              <a:buNone/>
            </a:pPr>
            <a:r>
              <a:t/>
            </a:r>
            <a:endParaRPr sz="1500">
              <a:solidFill>
                <a:schemeClr val="dk1"/>
              </a:solidFill>
            </a:endParaRPr>
          </a:p>
        </p:txBody>
      </p:sp>
      <p:sp>
        <p:nvSpPr>
          <p:cNvPr id="106" name="Google Shape;106;p21"/>
          <p:cNvSpPr txBox="1"/>
          <p:nvPr/>
        </p:nvSpPr>
        <p:spPr>
          <a:xfrm>
            <a:off x="5100450" y="2302650"/>
            <a:ext cx="3912300" cy="327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1800">
                <a:solidFill>
                  <a:schemeClr val="dk1"/>
                </a:solidFill>
              </a:rPr>
              <a:t>🗣️ ✅ Voice Assistant (Sep 2025) </a:t>
            </a:r>
            <a:endParaRPr sz="1800">
              <a:solidFill>
                <a:schemeClr val="dk1"/>
              </a:solidFill>
            </a:endParaRPr>
          </a:p>
          <a:p>
            <a:pPr indent="0" lvl="0" marL="0" rtl="0" algn="l">
              <a:lnSpc>
                <a:spcPct val="115000"/>
              </a:lnSpc>
              <a:spcBef>
                <a:spcPts val="1200"/>
              </a:spcBef>
              <a:spcAft>
                <a:spcPts val="0"/>
              </a:spcAft>
              <a:buNone/>
            </a:pPr>
            <a:r>
              <a:rPr lang="en-GB" sz="1800">
                <a:solidFill>
                  <a:schemeClr val="dk1"/>
                </a:solidFill>
              </a:rPr>
              <a:t>❓ Ask Johnny anything else </a:t>
            </a:r>
            <a:endParaRPr sz="1800">
              <a:solidFill>
                <a:schemeClr val="dk1"/>
              </a:solidFill>
            </a:endParaRPr>
          </a:p>
          <a:p>
            <a:pPr indent="0" lvl="0" marL="0" rtl="0" algn="l">
              <a:lnSpc>
                <a:spcPct val="115000"/>
              </a:lnSpc>
              <a:spcBef>
                <a:spcPts val="1200"/>
              </a:spcBef>
              <a:spcAft>
                <a:spcPts val="0"/>
              </a:spcAft>
              <a:buNone/>
            </a:pPr>
            <a:r>
              <a:rPr lang="en-GB" sz="1800">
                <a:solidFill>
                  <a:schemeClr val="dk1"/>
                </a:solidFill>
              </a:rPr>
              <a:t>💬 Spoken insights via voice </a:t>
            </a:r>
            <a:endParaRPr sz="1800">
              <a:solidFill>
                <a:schemeClr val="dk1"/>
              </a:solidFill>
            </a:endParaRPr>
          </a:p>
          <a:p>
            <a:pPr indent="0" lvl="0" marL="0" rtl="0" algn="l">
              <a:lnSpc>
                <a:spcPct val="115000"/>
              </a:lnSpc>
              <a:spcBef>
                <a:spcPts val="1200"/>
              </a:spcBef>
              <a:spcAft>
                <a:spcPts val="0"/>
              </a:spcAft>
              <a:buNone/>
            </a:pPr>
            <a:r>
              <a:rPr lang="en-GB" sz="1800">
                <a:solidFill>
                  <a:schemeClr val="dk1"/>
                </a:solidFill>
              </a:rPr>
              <a:t>🔄 Current Focus (Oct 2025) </a:t>
            </a:r>
            <a:endParaRPr sz="1800">
              <a:solidFill>
                <a:schemeClr val="dk1"/>
              </a:solidFill>
            </a:endParaRPr>
          </a:p>
          <a:p>
            <a:pPr indent="0" lvl="0" marL="0" rtl="0" algn="l">
              <a:lnSpc>
                <a:spcPct val="115000"/>
              </a:lnSpc>
              <a:spcBef>
                <a:spcPts val="1200"/>
              </a:spcBef>
              <a:spcAft>
                <a:spcPts val="0"/>
              </a:spcAft>
              <a:buNone/>
            </a:pPr>
            <a:r>
              <a:rPr lang="en-GB" sz="1800">
                <a:solidFill>
                  <a:schemeClr val="dk1"/>
                </a:solidFill>
              </a:rPr>
              <a:t>⚡ Optimization Hub </a:t>
            </a:r>
            <a:endParaRPr sz="1800">
              <a:solidFill>
                <a:schemeClr val="dk1"/>
              </a:solidFill>
            </a:endParaRPr>
          </a:p>
          <a:p>
            <a:pPr indent="0" lvl="0" marL="0" rtl="0" algn="l">
              <a:lnSpc>
                <a:spcPct val="115000"/>
              </a:lnSpc>
              <a:spcBef>
                <a:spcPts val="1200"/>
              </a:spcBef>
              <a:spcAft>
                <a:spcPts val="0"/>
              </a:spcAft>
              <a:buNone/>
            </a:pPr>
            <a:r>
              <a:rPr lang="en-GB" sz="1800">
                <a:solidFill>
                  <a:schemeClr val="dk1"/>
                </a:solidFill>
              </a:rPr>
              <a:t>🤝 Slack &amp; Jira integrations</a:t>
            </a:r>
            <a:endParaRPr sz="1800">
              <a:solidFill>
                <a:schemeClr val="dk1"/>
              </a:solidFill>
            </a:endParaRPr>
          </a:p>
          <a:p>
            <a:pPr indent="0" lvl="0" marL="426087" rtl="0" algn="l">
              <a:spcBef>
                <a:spcPts val="1200"/>
              </a:spcBef>
              <a:spcAft>
                <a:spcPts val="0"/>
              </a:spcAft>
              <a:buNone/>
            </a:pPr>
            <a:r>
              <a:t/>
            </a:r>
            <a:endParaRPr sz="1800">
              <a:solidFill>
                <a:schemeClr val="dk2"/>
              </a:solidFill>
            </a:endParaRPr>
          </a:p>
        </p:txBody>
      </p:sp>
      <p:sp>
        <p:nvSpPr>
          <p:cNvPr id="107" name="Google Shape;107;p21"/>
          <p:cNvSpPr txBox="1"/>
          <p:nvPr/>
        </p:nvSpPr>
        <p:spPr>
          <a:xfrm>
            <a:off x="1013650" y="1161475"/>
            <a:ext cx="5074200" cy="49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256"/>
              <a:buFont typeface="Arial"/>
              <a:buNone/>
            </a:pPr>
            <a:r>
              <a:rPr lang="en-GB" sz="1600">
                <a:solidFill>
                  <a:schemeClr val="dk1"/>
                </a:solidFill>
              </a:rPr>
              <a:t>From foundation to full-spectrum AWS management.</a:t>
            </a:r>
            <a:endParaRPr sz="1900">
              <a:solidFill>
                <a:schemeClr val="dk2"/>
              </a:solidFill>
            </a:endParaRPr>
          </a:p>
        </p:txBody>
      </p:sp>
      <p:pic>
        <p:nvPicPr>
          <p:cNvPr descr="Roadmap infographic with milestones. Business concept for project management or business journey. Vector illustration of a blue winding road on white background with red milestones. (Provided by Getty Images)" id="108" name="Google Shape;108;p21"/>
          <p:cNvPicPr preferRelativeResize="0"/>
          <p:nvPr/>
        </p:nvPicPr>
        <p:blipFill>
          <a:blip r:embed="rId4">
            <a:alphaModFix/>
          </a:blip>
          <a:stretch>
            <a:fillRect/>
          </a:stretch>
        </p:blipFill>
        <p:spPr>
          <a:xfrm>
            <a:off x="6087854" y="554375"/>
            <a:ext cx="2924902" cy="15535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2" name="Shape 112"/>
        <p:cNvGrpSpPr/>
        <p:nvPr/>
      </p:nvGrpSpPr>
      <p:grpSpPr>
        <a:xfrm>
          <a:off x="0" y="0"/>
          <a:ext cx="0" cy="0"/>
          <a:chOff x="0" y="0"/>
          <a:chExt cx="0" cy="0"/>
        </a:xfrm>
      </p:grpSpPr>
      <p:sp>
        <p:nvSpPr>
          <p:cNvPr id="113" name="Google Shape;113;p22"/>
          <p:cNvSpPr txBox="1"/>
          <p:nvPr>
            <p:ph type="title"/>
          </p:nvPr>
        </p:nvSpPr>
        <p:spPr>
          <a:xfrm>
            <a:off x="863725" y="350775"/>
            <a:ext cx="7392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GB" sz="2900"/>
              <a:t>Johnny Cloud Architecture</a:t>
            </a:r>
            <a:endParaRPr sz="2900">
              <a:latin typeface="Montserrat SemiBold"/>
              <a:ea typeface="Montserrat SemiBold"/>
              <a:cs typeface="Montserrat SemiBold"/>
              <a:sym typeface="Montserrat SemiBold"/>
            </a:endParaRPr>
          </a:p>
        </p:txBody>
      </p:sp>
      <p:sp>
        <p:nvSpPr>
          <p:cNvPr id="114" name="Google Shape;114;p22"/>
          <p:cNvSpPr txBox="1"/>
          <p:nvPr/>
        </p:nvSpPr>
        <p:spPr>
          <a:xfrm>
            <a:off x="1071250" y="1062800"/>
            <a:ext cx="7184700" cy="446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t/>
            </a:r>
            <a:endParaRPr sz="1700">
              <a:solidFill>
                <a:schemeClr val="dk1"/>
              </a:solidFill>
            </a:endParaRPr>
          </a:p>
        </p:txBody>
      </p:sp>
      <p:pic>
        <p:nvPicPr>
          <p:cNvPr id="115" name="Google Shape;115;p22" title="Johnny Cloud Architecture.drawio (2).png"/>
          <p:cNvPicPr preferRelativeResize="0"/>
          <p:nvPr/>
        </p:nvPicPr>
        <p:blipFill>
          <a:blip r:embed="rId4">
            <a:alphaModFix/>
          </a:blip>
          <a:stretch>
            <a:fillRect/>
          </a:stretch>
        </p:blipFill>
        <p:spPr>
          <a:xfrm>
            <a:off x="863725" y="1000825"/>
            <a:ext cx="7392226" cy="40376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15"/>
                                        </p:tgtEl>
                                        <p:attrNameLst>
                                          <p:attrName>style.visibility</p:attrName>
                                        </p:attrNameLst>
                                      </p:cBhvr>
                                      <p:to>
                                        <p:strVal val="visible"/>
                                      </p:to>
                                    </p:set>
                                    <p:anim calcmode="lin" valueType="num">
                                      <p:cBhvr additive="base">
                                        <p:cTn dur="1000"/>
                                        <p:tgtEl>
                                          <p:spTgt spid="115"/>
                                        </p:tgtEl>
                                        <p:attrNameLst>
                                          <p:attrName>ppt_w</p:attrName>
                                        </p:attrNameLst>
                                      </p:cBhvr>
                                      <p:tavLst>
                                        <p:tav fmla="" tm="0">
                                          <p:val>
                                            <p:strVal val="0"/>
                                          </p:val>
                                        </p:tav>
                                        <p:tav fmla="" tm="100000">
                                          <p:val>
                                            <p:strVal val="#ppt_w"/>
                                          </p:val>
                                        </p:tav>
                                      </p:tavLst>
                                    </p:anim>
                                    <p:anim calcmode="lin" valueType="num">
                                      <p:cBhvr additive="base">
                                        <p:cTn dur="1000"/>
                                        <p:tgtEl>
                                          <p:spTgt spid="11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9" name="Shape 119"/>
        <p:cNvGrpSpPr/>
        <p:nvPr/>
      </p:nvGrpSpPr>
      <p:grpSpPr>
        <a:xfrm>
          <a:off x="0" y="0"/>
          <a:ext cx="0" cy="0"/>
          <a:chOff x="0" y="0"/>
          <a:chExt cx="0" cy="0"/>
        </a:xfrm>
      </p:grpSpPr>
      <p:sp>
        <p:nvSpPr>
          <p:cNvPr id="120" name="Google Shape;120;p23"/>
          <p:cNvSpPr txBox="1"/>
          <p:nvPr>
            <p:ph type="title"/>
          </p:nvPr>
        </p:nvSpPr>
        <p:spPr>
          <a:xfrm>
            <a:off x="851300" y="484950"/>
            <a:ext cx="7999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2900">
                <a:latin typeface="Montserrat"/>
                <a:ea typeface="Montserrat"/>
                <a:cs typeface="Montserrat"/>
                <a:sym typeface="Montserrat"/>
              </a:rPr>
              <a:t>User Experience with simplicity in mind</a:t>
            </a:r>
            <a:endParaRPr b="1" sz="2900">
              <a:latin typeface="Montserrat"/>
              <a:ea typeface="Montserrat"/>
              <a:cs typeface="Montserrat"/>
              <a:sym typeface="Montserrat"/>
            </a:endParaRPr>
          </a:p>
        </p:txBody>
      </p:sp>
      <p:sp>
        <p:nvSpPr>
          <p:cNvPr id="121" name="Google Shape;121;p23"/>
          <p:cNvSpPr txBox="1"/>
          <p:nvPr/>
        </p:nvSpPr>
        <p:spPr>
          <a:xfrm>
            <a:off x="1143300" y="1443000"/>
            <a:ext cx="6857400" cy="2832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2000">
                <a:solidFill>
                  <a:schemeClr val="dk1"/>
                </a:solidFill>
              </a:rPr>
              <a:t>🧑‍💻 Signed-in dashboard </a:t>
            </a:r>
            <a:endParaRPr sz="2000">
              <a:solidFill>
                <a:schemeClr val="dk1"/>
              </a:solidFill>
            </a:endParaRPr>
          </a:p>
          <a:p>
            <a:pPr indent="0" lvl="0" marL="0" rtl="0" algn="l">
              <a:lnSpc>
                <a:spcPct val="100000"/>
              </a:lnSpc>
              <a:spcBef>
                <a:spcPts val="1200"/>
              </a:spcBef>
              <a:spcAft>
                <a:spcPts val="0"/>
              </a:spcAft>
              <a:buNone/>
            </a:pPr>
            <a:r>
              <a:t/>
            </a:r>
            <a:endParaRPr sz="2000">
              <a:solidFill>
                <a:schemeClr val="dk1"/>
              </a:solidFill>
            </a:endParaRPr>
          </a:p>
          <a:p>
            <a:pPr indent="0" lvl="0" marL="0" rtl="0" algn="l">
              <a:lnSpc>
                <a:spcPct val="115000"/>
              </a:lnSpc>
              <a:spcBef>
                <a:spcPts val="1200"/>
              </a:spcBef>
              <a:spcAft>
                <a:spcPts val="0"/>
              </a:spcAft>
              <a:buNone/>
            </a:pPr>
            <a:r>
              <a:rPr lang="en-GB" sz="2000">
                <a:solidFill>
                  <a:schemeClr val="dk1"/>
                </a:solidFill>
              </a:rPr>
              <a:t>🧱 Modular layout: Metrics, Guardrails, FAQ</a:t>
            </a:r>
            <a:endParaRPr sz="2000">
              <a:solidFill>
                <a:schemeClr val="dk1"/>
              </a:solidFill>
            </a:endParaRPr>
          </a:p>
          <a:p>
            <a:pPr indent="0" lvl="0" marL="0" rtl="0" algn="l">
              <a:lnSpc>
                <a:spcPct val="115000"/>
              </a:lnSpc>
              <a:spcBef>
                <a:spcPts val="1200"/>
              </a:spcBef>
              <a:spcAft>
                <a:spcPts val="0"/>
              </a:spcAft>
              <a:buNone/>
            </a:pPr>
            <a:r>
              <a:t/>
            </a:r>
            <a:endParaRPr sz="2000">
              <a:solidFill>
                <a:schemeClr val="dk1"/>
              </a:solidFill>
            </a:endParaRPr>
          </a:p>
          <a:p>
            <a:pPr indent="0" lvl="0" marL="0" rtl="0" algn="l">
              <a:lnSpc>
                <a:spcPct val="115000"/>
              </a:lnSpc>
              <a:spcBef>
                <a:spcPts val="1200"/>
              </a:spcBef>
              <a:spcAft>
                <a:spcPts val="0"/>
              </a:spcAft>
              <a:buNone/>
            </a:pPr>
            <a:r>
              <a:rPr lang="en-GB" sz="2000">
                <a:solidFill>
                  <a:schemeClr val="dk1"/>
                </a:solidFill>
              </a:rPr>
              <a:t> 🗣️💬 Accessibility via voice and chat </a:t>
            </a:r>
            <a:endParaRPr sz="2000">
              <a:solidFill>
                <a:schemeClr val="dk1"/>
              </a:solidFill>
            </a:endParaRPr>
          </a:p>
          <a:p>
            <a:pPr indent="0" lvl="0" marL="0" rtl="0" algn="l">
              <a:lnSpc>
                <a:spcPct val="115000"/>
              </a:lnSpc>
              <a:spcBef>
                <a:spcPts val="1200"/>
              </a:spcBef>
              <a:spcAft>
                <a:spcPts val="0"/>
              </a:spcAft>
              <a:buNone/>
            </a:pPr>
            <a:r>
              <a:t/>
            </a:r>
            <a:endParaRPr sz="2000">
              <a:solidFill>
                <a:schemeClr val="dk1"/>
              </a:solidFill>
            </a:endParaRPr>
          </a:p>
          <a:p>
            <a:pPr indent="0" lvl="0" marL="0" rtl="0" algn="l">
              <a:lnSpc>
                <a:spcPct val="115000"/>
              </a:lnSpc>
              <a:spcBef>
                <a:spcPts val="1200"/>
              </a:spcBef>
              <a:spcAft>
                <a:spcPts val="1200"/>
              </a:spcAft>
              <a:buNone/>
            </a:pPr>
            <a:r>
              <a:rPr lang="en-GB" sz="2000">
                <a:solidFill>
                  <a:schemeClr val="dk1"/>
                </a:solidFill>
              </a:rPr>
              <a:t>✨ AI Powered by Claude Sonnet LLM</a:t>
            </a:r>
            <a:endParaRPr sz="20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1"/>
                                        </p:tgtEl>
                                        <p:attrNameLst>
                                          <p:attrName>style.visibility</p:attrName>
                                        </p:attrNameLst>
                                      </p:cBhvr>
                                      <p:to>
                                        <p:strVal val="visible"/>
                                      </p:to>
                                    </p:set>
                                    <p:anim calcmode="lin" valueType="num">
                                      <p:cBhvr additive="base">
                                        <p:cTn dur="1000"/>
                                        <p:tgtEl>
                                          <p:spTgt spid="12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5" name="Shape 125"/>
        <p:cNvGrpSpPr/>
        <p:nvPr/>
      </p:nvGrpSpPr>
      <p:grpSpPr>
        <a:xfrm>
          <a:off x="0" y="0"/>
          <a:ext cx="0" cy="0"/>
          <a:chOff x="0" y="0"/>
          <a:chExt cx="0" cy="0"/>
        </a:xfrm>
      </p:grpSpPr>
      <p:sp>
        <p:nvSpPr>
          <p:cNvPr id="126" name="Google Shape;126;p24"/>
          <p:cNvSpPr txBox="1"/>
          <p:nvPr>
            <p:ph type="title"/>
          </p:nvPr>
        </p:nvSpPr>
        <p:spPr>
          <a:xfrm>
            <a:off x="640500" y="594950"/>
            <a:ext cx="7863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GB" sz="2920">
                <a:latin typeface="Montserrat"/>
                <a:ea typeface="Montserrat"/>
                <a:cs typeface="Montserrat"/>
                <a:sym typeface="Montserrat"/>
              </a:rPr>
              <a:t>Challenges &amp; Key Learnings</a:t>
            </a:r>
            <a:endParaRPr b="1" sz="2920">
              <a:latin typeface="Montserrat"/>
              <a:ea typeface="Montserrat"/>
              <a:cs typeface="Montserrat"/>
              <a:sym typeface="Montserrat"/>
            </a:endParaRPr>
          </a:p>
        </p:txBody>
      </p:sp>
      <p:sp>
        <p:nvSpPr>
          <p:cNvPr id="127" name="Google Shape;127;p24"/>
          <p:cNvSpPr txBox="1"/>
          <p:nvPr>
            <p:ph idx="1" type="body"/>
          </p:nvPr>
        </p:nvSpPr>
        <p:spPr>
          <a:xfrm>
            <a:off x="999975" y="1809200"/>
            <a:ext cx="5649900" cy="30240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275"/>
              <a:buFont typeface="Arial"/>
              <a:buNone/>
            </a:pPr>
            <a:r>
              <a:rPr b="1" lang="en-GB">
                <a:solidFill>
                  <a:schemeClr val="dk1"/>
                </a:solidFill>
              </a:rPr>
              <a:t>🧩Initial Hurdles with Service Integration</a:t>
            </a:r>
            <a:endParaRPr b="1">
              <a:solidFill>
                <a:schemeClr val="dk1"/>
              </a:solidFill>
            </a:endParaRPr>
          </a:p>
          <a:p>
            <a:pPr indent="0" lvl="0" marL="0" rtl="0" algn="l">
              <a:lnSpc>
                <a:spcPct val="95000"/>
              </a:lnSpc>
              <a:spcBef>
                <a:spcPts val="1200"/>
              </a:spcBef>
              <a:spcAft>
                <a:spcPts val="0"/>
              </a:spcAft>
              <a:buClr>
                <a:schemeClr val="dk1"/>
              </a:buClr>
              <a:buSzPts val="275"/>
              <a:buFont typeface="Arial"/>
              <a:buNone/>
            </a:pPr>
            <a:r>
              <a:t/>
            </a:r>
            <a:endParaRPr b="1">
              <a:solidFill>
                <a:schemeClr val="dk1"/>
              </a:solidFill>
            </a:endParaRPr>
          </a:p>
          <a:p>
            <a:pPr indent="0" lvl="0" marL="0" rtl="0" algn="l">
              <a:lnSpc>
                <a:spcPct val="95000"/>
              </a:lnSpc>
              <a:spcBef>
                <a:spcPts val="1200"/>
              </a:spcBef>
              <a:spcAft>
                <a:spcPts val="0"/>
              </a:spcAft>
              <a:buClr>
                <a:schemeClr val="dk1"/>
              </a:buClr>
              <a:buSzPts val="275"/>
              <a:buFont typeface="Arial"/>
              <a:buNone/>
            </a:pPr>
            <a:r>
              <a:rPr b="1" lang="en-GB">
                <a:solidFill>
                  <a:schemeClr val="dk1"/>
                </a:solidFill>
              </a:rPr>
              <a:t>⚙️Controlling the AI</a:t>
            </a:r>
            <a:r>
              <a:rPr lang="en-GB">
                <a:solidFill>
                  <a:schemeClr val="dk1"/>
                </a:solidFill>
              </a:rPr>
              <a:t> </a:t>
            </a:r>
            <a:endParaRPr>
              <a:solidFill>
                <a:schemeClr val="dk1"/>
              </a:solidFill>
            </a:endParaRPr>
          </a:p>
          <a:p>
            <a:pPr indent="0" lvl="0" marL="0" rtl="0" algn="l">
              <a:lnSpc>
                <a:spcPct val="95000"/>
              </a:lnSpc>
              <a:spcBef>
                <a:spcPts val="1200"/>
              </a:spcBef>
              <a:spcAft>
                <a:spcPts val="0"/>
              </a:spcAft>
              <a:buClr>
                <a:schemeClr val="dk1"/>
              </a:buClr>
              <a:buSzPts val="275"/>
              <a:buFont typeface="Arial"/>
              <a:buNone/>
            </a:pPr>
            <a:r>
              <a:t/>
            </a:r>
            <a:endParaRPr>
              <a:solidFill>
                <a:schemeClr val="dk1"/>
              </a:solidFill>
            </a:endParaRPr>
          </a:p>
          <a:p>
            <a:pPr indent="0" lvl="0" marL="0" rtl="0" algn="l">
              <a:lnSpc>
                <a:spcPct val="95000"/>
              </a:lnSpc>
              <a:spcBef>
                <a:spcPts val="1200"/>
              </a:spcBef>
              <a:spcAft>
                <a:spcPts val="0"/>
              </a:spcAft>
              <a:buClr>
                <a:schemeClr val="dk1"/>
              </a:buClr>
              <a:buSzPts val="275"/>
              <a:buFont typeface="Arial"/>
              <a:buNone/>
            </a:pPr>
            <a:r>
              <a:rPr b="1" lang="en-GB">
                <a:solidFill>
                  <a:schemeClr val="dk1"/>
                </a:solidFill>
              </a:rPr>
              <a:t>🔒Security &amp; Permissions</a:t>
            </a:r>
            <a:endParaRPr b="1">
              <a:solidFill>
                <a:schemeClr val="dk1"/>
              </a:solidFill>
            </a:endParaRPr>
          </a:p>
          <a:p>
            <a:pPr indent="0" lvl="0" marL="0" rtl="0" algn="l">
              <a:lnSpc>
                <a:spcPct val="95000"/>
              </a:lnSpc>
              <a:spcBef>
                <a:spcPts val="1200"/>
              </a:spcBef>
              <a:spcAft>
                <a:spcPts val="0"/>
              </a:spcAft>
              <a:buClr>
                <a:schemeClr val="dk1"/>
              </a:buClr>
              <a:buSzPts val="275"/>
              <a:buFont typeface="Arial"/>
              <a:buNone/>
            </a:pPr>
            <a:r>
              <a:t/>
            </a:r>
            <a:endParaRPr b="1">
              <a:solidFill>
                <a:schemeClr val="dk1"/>
              </a:solidFill>
            </a:endParaRPr>
          </a:p>
          <a:p>
            <a:pPr indent="0" lvl="0" marL="0" rtl="0" algn="l">
              <a:lnSpc>
                <a:spcPct val="95000"/>
              </a:lnSpc>
              <a:spcBef>
                <a:spcPts val="1200"/>
              </a:spcBef>
              <a:spcAft>
                <a:spcPts val="1200"/>
              </a:spcAft>
              <a:buClr>
                <a:schemeClr val="dk1"/>
              </a:buClr>
              <a:buSzPts val="275"/>
              <a:buFont typeface="Arial"/>
              <a:buNone/>
            </a:pPr>
            <a:r>
              <a:rPr b="1" lang="en-GB">
                <a:solidFill>
                  <a:schemeClr val="dk1"/>
                </a:solidFill>
              </a:rPr>
              <a:t>🏛️Architectural Complexity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7"/>
                                        </p:tgtEl>
                                        <p:attrNameLst>
                                          <p:attrName>style.visibility</p:attrName>
                                        </p:attrNameLst>
                                      </p:cBhvr>
                                      <p:to>
                                        <p:strVal val="visible"/>
                                      </p:to>
                                    </p:set>
                                    <p:anim calcmode="lin" valueType="num">
                                      <p:cBhvr additive="base">
                                        <p:cTn dur="1000"/>
                                        <p:tgtEl>
                                          <p:spTgt spid="12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1" name="Shape 131"/>
        <p:cNvGrpSpPr/>
        <p:nvPr/>
      </p:nvGrpSpPr>
      <p:grpSpPr>
        <a:xfrm>
          <a:off x="0" y="0"/>
          <a:ext cx="0" cy="0"/>
          <a:chOff x="0" y="0"/>
          <a:chExt cx="0" cy="0"/>
        </a:xfrm>
      </p:grpSpPr>
      <p:sp>
        <p:nvSpPr>
          <p:cNvPr id="132" name="Google Shape;132;p25"/>
          <p:cNvSpPr txBox="1"/>
          <p:nvPr>
            <p:ph type="title"/>
          </p:nvPr>
        </p:nvSpPr>
        <p:spPr>
          <a:xfrm>
            <a:off x="506225" y="445025"/>
            <a:ext cx="8142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GB" sz="2920">
                <a:latin typeface="Montserrat"/>
                <a:ea typeface="Montserrat"/>
                <a:cs typeface="Montserrat"/>
                <a:sym typeface="Montserrat"/>
              </a:rPr>
              <a:t>Q&amp;A</a:t>
            </a:r>
            <a:endParaRPr b="1" sz="2920">
              <a:latin typeface="Montserrat"/>
              <a:ea typeface="Montserrat"/>
              <a:cs typeface="Montserrat"/>
              <a:sym typeface="Montserrat"/>
            </a:endParaRPr>
          </a:p>
        </p:txBody>
      </p:sp>
      <p:sp>
        <p:nvSpPr>
          <p:cNvPr id="133" name="Google Shape;133;p25"/>
          <p:cNvSpPr txBox="1"/>
          <p:nvPr>
            <p:ph idx="1" type="body"/>
          </p:nvPr>
        </p:nvSpPr>
        <p:spPr>
          <a:xfrm>
            <a:off x="1206250" y="1330850"/>
            <a:ext cx="6369300" cy="315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275"/>
              <a:buFont typeface="Arial"/>
              <a:buNone/>
            </a:pPr>
            <a:r>
              <a:rPr b="1" lang="en-GB">
                <a:solidFill>
                  <a:schemeClr val="dk1"/>
                </a:solidFill>
              </a:rPr>
              <a:t>🔄 Multi-Account Support </a:t>
            </a:r>
            <a:endParaRPr>
              <a:solidFill>
                <a:schemeClr val="dk1"/>
              </a:solidFill>
            </a:endParaRPr>
          </a:p>
          <a:p>
            <a:pPr indent="0" lvl="0" marL="0" rtl="0" algn="l">
              <a:spcBef>
                <a:spcPts val="0"/>
              </a:spcBef>
              <a:spcAft>
                <a:spcPts val="0"/>
              </a:spcAft>
              <a:buClr>
                <a:schemeClr val="dk1"/>
              </a:buClr>
              <a:buSzPts val="275"/>
              <a:buFont typeface="Arial"/>
              <a:buNone/>
            </a:pPr>
            <a:r>
              <a:t/>
            </a:r>
            <a:endParaRPr>
              <a:solidFill>
                <a:schemeClr val="dk1"/>
              </a:solidFill>
            </a:endParaRPr>
          </a:p>
          <a:p>
            <a:pPr indent="0" lvl="0" marL="0" rtl="0" algn="l">
              <a:spcBef>
                <a:spcPts val="0"/>
              </a:spcBef>
              <a:spcAft>
                <a:spcPts val="0"/>
              </a:spcAft>
              <a:buClr>
                <a:schemeClr val="dk1"/>
              </a:buClr>
              <a:buSzPts val="275"/>
              <a:buFont typeface="Arial"/>
              <a:buNone/>
            </a:pPr>
            <a:r>
              <a:rPr b="1" lang="en-GB">
                <a:solidFill>
                  <a:schemeClr val="dk1"/>
                </a:solidFill>
              </a:rPr>
              <a:t>⚙️ Automated Fixes </a:t>
            </a:r>
            <a:endParaRPr>
              <a:solidFill>
                <a:schemeClr val="dk1"/>
              </a:solidFill>
            </a:endParaRPr>
          </a:p>
          <a:p>
            <a:pPr indent="0" lvl="0" marL="0" rtl="0" algn="l">
              <a:spcBef>
                <a:spcPts val="0"/>
              </a:spcBef>
              <a:spcAft>
                <a:spcPts val="0"/>
              </a:spcAft>
              <a:buClr>
                <a:schemeClr val="dk1"/>
              </a:buClr>
              <a:buSzPts val="275"/>
              <a:buFont typeface="Arial"/>
              <a:buNone/>
            </a:pPr>
            <a:r>
              <a:t/>
            </a:r>
            <a:endParaRPr b="1">
              <a:solidFill>
                <a:schemeClr val="dk1"/>
              </a:solidFill>
            </a:endParaRPr>
          </a:p>
          <a:p>
            <a:pPr indent="0" lvl="0" marL="0" rtl="0" algn="l">
              <a:spcBef>
                <a:spcPts val="0"/>
              </a:spcBef>
              <a:spcAft>
                <a:spcPts val="0"/>
              </a:spcAft>
              <a:buClr>
                <a:schemeClr val="dk1"/>
              </a:buClr>
              <a:buSzPts val="275"/>
              <a:buFont typeface="Arial"/>
              <a:buNone/>
            </a:pPr>
            <a:r>
              <a:rPr b="1" lang="en-GB">
                <a:solidFill>
                  <a:schemeClr val="dk1"/>
                </a:solidFill>
              </a:rPr>
              <a:t>🔐 Data Safety </a:t>
            </a:r>
            <a:endParaRPr>
              <a:solidFill>
                <a:schemeClr val="dk1"/>
              </a:solidFill>
            </a:endParaRPr>
          </a:p>
          <a:p>
            <a:pPr indent="0" lvl="0" marL="0" rtl="0" algn="l">
              <a:spcBef>
                <a:spcPts val="0"/>
              </a:spcBef>
              <a:spcAft>
                <a:spcPts val="0"/>
              </a:spcAft>
              <a:buClr>
                <a:schemeClr val="dk1"/>
              </a:buClr>
              <a:buSzPts val="275"/>
              <a:buFont typeface="Arial"/>
              <a:buNone/>
            </a:pPr>
            <a:r>
              <a:t/>
            </a:r>
            <a:endParaRPr>
              <a:solidFill>
                <a:schemeClr val="dk1"/>
              </a:solidFill>
            </a:endParaRPr>
          </a:p>
          <a:p>
            <a:pPr indent="0" lvl="0" marL="0" rtl="0" algn="l">
              <a:spcBef>
                <a:spcPts val="0"/>
              </a:spcBef>
              <a:spcAft>
                <a:spcPts val="0"/>
              </a:spcAft>
              <a:buClr>
                <a:schemeClr val="dk1"/>
              </a:buClr>
              <a:buSzPts val="275"/>
              <a:buFont typeface="Arial"/>
              <a:buNone/>
            </a:pPr>
            <a:r>
              <a:rPr b="1" lang="en-GB">
                <a:solidFill>
                  <a:schemeClr val="dk1"/>
                </a:solidFill>
              </a:rPr>
              <a:t>💸 Cost to Run </a:t>
            </a:r>
            <a:endParaRPr>
              <a:solidFill>
                <a:schemeClr val="dk1"/>
              </a:solidFill>
            </a:endParaRPr>
          </a:p>
          <a:p>
            <a:pPr indent="0" lvl="0" marL="0" rtl="0" algn="l">
              <a:spcBef>
                <a:spcPts val="0"/>
              </a:spcBef>
              <a:spcAft>
                <a:spcPts val="0"/>
              </a:spcAft>
              <a:buClr>
                <a:schemeClr val="dk1"/>
              </a:buClr>
              <a:buSzPts val="275"/>
              <a:buFont typeface="Arial"/>
              <a:buNone/>
            </a:pPr>
            <a:r>
              <a:t/>
            </a:r>
            <a:endParaRPr>
              <a:solidFill>
                <a:schemeClr val="dk1"/>
              </a:solidFill>
            </a:endParaRPr>
          </a:p>
          <a:p>
            <a:pPr indent="0" lvl="0" marL="0" rtl="0" algn="l">
              <a:spcBef>
                <a:spcPts val="0"/>
              </a:spcBef>
              <a:spcAft>
                <a:spcPts val="0"/>
              </a:spcAft>
              <a:buClr>
                <a:schemeClr val="dk1"/>
              </a:buClr>
              <a:buSzPts val="275"/>
              <a:buFont typeface="Arial"/>
              <a:buNone/>
            </a:pPr>
            <a:r>
              <a:rPr b="1" lang="en-GB">
                <a:solidFill>
                  <a:schemeClr val="dk1"/>
                </a:solidFill>
              </a:rPr>
              <a:t>🚨 What If Something Breaks?</a:t>
            </a:r>
            <a:r>
              <a:rPr lang="en-GB">
                <a:solidFill>
                  <a:schemeClr val="dk1"/>
                </a:solidFill>
              </a:rPr>
              <a:t> </a:t>
            </a:r>
            <a:endParaRPr>
              <a:solidFill>
                <a:schemeClr val="dk1"/>
              </a:solidFill>
            </a:endParaRPr>
          </a:p>
          <a:p>
            <a:pPr indent="0" lvl="0" marL="0" rtl="0" algn="l">
              <a:spcBef>
                <a:spcPts val="0"/>
              </a:spcBef>
              <a:spcAft>
                <a:spcPts val="0"/>
              </a:spcAft>
              <a:buClr>
                <a:schemeClr val="dk1"/>
              </a:buClr>
              <a:buSzPts val="275"/>
              <a:buFont typeface="Arial"/>
              <a:buNone/>
            </a:pPr>
            <a:r>
              <a:t/>
            </a:r>
            <a:endParaRPr sz="145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7" name="Shape 137"/>
        <p:cNvGrpSpPr/>
        <p:nvPr/>
      </p:nvGrpSpPr>
      <p:grpSpPr>
        <a:xfrm>
          <a:off x="0" y="0"/>
          <a:ext cx="0" cy="0"/>
          <a:chOff x="0" y="0"/>
          <a:chExt cx="0" cy="0"/>
        </a:xfrm>
      </p:grpSpPr>
      <p:sp>
        <p:nvSpPr>
          <p:cNvPr id="138" name="Google Shape;138;p26"/>
          <p:cNvSpPr txBox="1"/>
          <p:nvPr>
            <p:ph type="title"/>
          </p:nvPr>
        </p:nvSpPr>
        <p:spPr>
          <a:xfrm>
            <a:off x="725350" y="445025"/>
            <a:ext cx="774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GB" sz="2920">
                <a:latin typeface="Montserrat"/>
                <a:ea typeface="Montserrat"/>
                <a:cs typeface="Montserrat"/>
                <a:sym typeface="Montserrat"/>
              </a:rPr>
              <a:t>Future Enhancements</a:t>
            </a:r>
            <a:endParaRPr b="1" sz="2920">
              <a:latin typeface="Montserrat"/>
              <a:ea typeface="Montserrat"/>
              <a:cs typeface="Montserrat"/>
              <a:sym typeface="Montserrat"/>
            </a:endParaRPr>
          </a:p>
        </p:txBody>
      </p:sp>
      <p:sp>
        <p:nvSpPr>
          <p:cNvPr id="139" name="Google Shape;139;p26"/>
          <p:cNvSpPr txBox="1"/>
          <p:nvPr>
            <p:ph idx="1" type="body"/>
          </p:nvPr>
        </p:nvSpPr>
        <p:spPr>
          <a:xfrm>
            <a:off x="1309550" y="1538400"/>
            <a:ext cx="4140300" cy="3033600"/>
          </a:xfrm>
          <a:prstGeom prst="rect">
            <a:avLst/>
          </a:prstGeom>
        </p:spPr>
        <p:txBody>
          <a:bodyPr anchorCtr="0" anchor="t" bIns="91425" lIns="91425" spcFirstLastPara="1" rIns="91425" wrap="square" tIns="91425">
            <a:noAutofit/>
          </a:bodyPr>
          <a:lstStyle/>
          <a:p>
            <a:pPr indent="0" lvl="0" marL="0" rtl="0" algn="l">
              <a:lnSpc>
                <a:spcPct val="125000"/>
              </a:lnSpc>
              <a:spcBef>
                <a:spcPts val="0"/>
              </a:spcBef>
              <a:spcAft>
                <a:spcPts val="0"/>
              </a:spcAft>
              <a:buClr>
                <a:schemeClr val="dk1"/>
              </a:buClr>
              <a:buSzPts val="1100"/>
              <a:buFont typeface="Arial"/>
              <a:buNone/>
            </a:pPr>
            <a:r>
              <a:rPr b="1" lang="en-GB" sz="1700">
                <a:solidFill>
                  <a:schemeClr val="dk1"/>
                </a:solidFill>
              </a:rPr>
              <a:t>⚡ From Alerts to Action</a:t>
            </a:r>
            <a:endParaRPr b="1" sz="1700">
              <a:solidFill>
                <a:schemeClr val="dk1"/>
              </a:solidFill>
            </a:endParaRPr>
          </a:p>
          <a:p>
            <a:pPr indent="457200" lvl="0" marL="0" rtl="0" algn="l">
              <a:lnSpc>
                <a:spcPct val="125000"/>
              </a:lnSpc>
              <a:spcBef>
                <a:spcPts val="0"/>
              </a:spcBef>
              <a:spcAft>
                <a:spcPts val="0"/>
              </a:spcAft>
              <a:buClr>
                <a:schemeClr val="dk1"/>
              </a:buClr>
              <a:buSzPts val="1100"/>
              <a:buFont typeface="Arial"/>
              <a:buNone/>
            </a:pPr>
            <a:r>
              <a:t/>
            </a:r>
            <a:endParaRPr sz="1700">
              <a:solidFill>
                <a:schemeClr val="dk1"/>
              </a:solidFill>
            </a:endParaRPr>
          </a:p>
          <a:p>
            <a:pPr indent="0" lvl="0" marL="0" rtl="0" algn="l">
              <a:lnSpc>
                <a:spcPct val="125000"/>
              </a:lnSpc>
              <a:spcBef>
                <a:spcPts val="0"/>
              </a:spcBef>
              <a:spcAft>
                <a:spcPts val="0"/>
              </a:spcAft>
              <a:buClr>
                <a:schemeClr val="dk1"/>
              </a:buClr>
              <a:buSzPts val="1100"/>
              <a:buFont typeface="Arial"/>
              <a:buNone/>
            </a:pPr>
            <a:r>
              <a:rPr b="1" lang="en-GB" sz="1700">
                <a:solidFill>
                  <a:schemeClr val="dk1"/>
                </a:solidFill>
              </a:rPr>
              <a:t>🔐 Security, Tightened</a:t>
            </a:r>
            <a:endParaRPr b="1" sz="1700">
              <a:solidFill>
                <a:schemeClr val="dk1"/>
              </a:solidFill>
            </a:endParaRPr>
          </a:p>
          <a:p>
            <a:pPr indent="457200" lvl="0" marL="0" rtl="0" algn="l">
              <a:lnSpc>
                <a:spcPct val="125000"/>
              </a:lnSpc>
              <a:spcBef>
                <a:spcPts val="0"/>
              </a:spcBef>
              <a:spcAft>
                <a:spcPts val="0"/>
              </a:spcAft>
              <a:buClr>
                <a:schemeClr val="dk1"/>
              </a:buClr>
              <a:buSzPts val="1100"/>
              <a:buFont typeface="Arial"/>
              <a:buNone/>
            </a:pPr>
            <a:r>
              <a:t/>
            </a:r>
            <a:endParaRPr sz="1700">
              <a:solidFill>
                <a:schemeClr val="dk1"/>
              </a:solidFill>
            </a:endParaRPr>
          </a:p>
          <a:p>
            <a:pPr indent="0" lvl="0" marL="0" rtl="0" algn="l">
              <a:lnSpc>
                <a:spcPct val="125000"/>
              </a:lnSpc>
              <a:spcBef>
                <a:spcPts val="0"/>
              </a:spcBef>
              <a:spcAft>
                <a:spcPts val="0"/>
              </a:spcAft>
              <a:buClr>
                <a:schemeClr val="dk1"/>
              </a:buClr>
              <a:buSzPts val="1100"/>
              <a:buFont typeface="Arial"/>
              <a:buNone/>
            </a:pPr>
            <a:r>
              <a:rPr b="1" lang="en-GB" sz="1700">
                <a:solidFill>
                  <a:schemeClr val="dk1"/>
                </a:solidFill>
              </a:rPr>
              <a:t>👁️‍🗨️ Visibility, Refined</a:t>
            </a:r>
            <a:endParaRPr b="1" sz="1700">
              <a:solidFill>
                <a:schemeClr val="dk1"/>
              </a:solidFill>
            </a:endParaRPr>
          </a:p>
          <a:p>
            <a:pPr indent="457200" lvl="0" marL="0" rtl="0" algn="l">
              <a:lnSpc>
                <a:spcPct val="125000"/>
              </a:lnSpc>
              <a:spcBef>
                <a:spcPts val="0"/>
              </a:spcBef>
              <a:spcAft>
                <a:spcPts val="0"/>
              </a:spcAft>
              <a:buClr>
                <a:schemeClr val="dk1"/>
              </a:buClr>
              <a:buSzPts val="1100"/>
              <a:buFont typeface="Arial"/>
              <a:buNone/>
            </a:pPr>
            <a:r>
              <a:t/>
            </a:r>
            <a:endParaRPr sz="1700">
              <a:solidFill>
                <a:schemeClr val="dk1"/>
              </a:solidFill>
            </a:endParaRPr>
          </a:p>
          <a:p>
            <a:pPr indent="0" lvl="0" marL="0" rtl="0" algn="l">
              <a:lnSpc>
                <a:spcPct val="125000"/>
              </a:lnSpc>
              <a:spcBef>
                <a:spcPts val="0"/>
              </a:spcBef>
              <a:spcAft>
                <a:spcPts val="0"/>
              </a:spcAft>
              <a:buClr>
                <a:schemeClr val="dk1"/>
              </a:buClr>
              <a:buSzPts val="1100"/>
              <a:buFont typeface="Arial"/>
              <a:buNone/>
            </a:pPr>
            <a:r>
              <a:rPr b="1" lang="en-GB" sz="1700">
                <a:solidFill>
                  <a:schemeClr val="dk1"/>
                </a:solidFill>
              </a:rPr>
              <a:t>💸 Cost View, Strengthened</a:t>
            </a:r>
            <a:endParaRPr b="1" sz="1700">
              <a:solidFill>
                <a:schemeClr val="dk1"/>
              </a:solidFill>
            </a:endParaRPr>
          </a:p>
          <a:p>
            <a:pPr indent="457200" lvl="0" marL="0" rtl="0" algn="l">
              <a:lnSpc>
                <a:spcPct val="125000"/>
              </a:lnSpc>
              <a:spcBef>
                <a:spcPts val="0"/>
              </a:spcBef>
              <a:spcAft>
                <a:spcPts val="0"/>
              </a:spcAft>
              <a:buClr>
                <a:schemeClr val="dk1"/>
              </a:buClr>
              <a:buSzPts val="1100"/>
              <a:buFont typeface="Arial"/>
              <a:buNone/>
            </a:pPr>
            <a:r>
              <a:t/>
            </a:r>
            <a:endParaRPr sz="1700">
              <a:solidFill>
                <a:schemeClr val="dk1"/>
              </a:solidFill>
            </a:endParaRPr>
          </a:p>
          <a:p>
            <a:pPr indent="0" lvl="0" marL="0" rtl="0" algn="l">
              <a:lnSpc>
                <a:spcPct val="125000"/>
              </a:lnSpc>
              <a:spcBef>
                <a:spcPts val="0"/>
              </a:spcBef>
              <a:spcAft>
                <a:spcPts val="0"/>
              </a:spcAft>
              <a:buClr>
                <a:schemeClr val="dk1"/>
              </a:buClr>
              <a:buSzPts val="1100"/>
              <a:buFont typeface="Arial"/>
              <a:buNone/>
            </a:pPr>
            <a:r>
              <a:rPr b="1" lang="en-GB" sz="1700">
                <a:solidFill>
                  <a:schemeClr val="dk1"/>
                </a:solidFill>
              </a:rPr>
              <a:t>🧠 Smarter Bot Experience</a:t>
            </a:r>
            <a:endParaRPr b="1" sz="1700">
              <a:solidFill>
                <a:schemeClr val="dk1"/>
              </a:solidFill>
            </a:endParaRPr>
          </a:p>
          <a:p>
            <a:pPr indent="457200" lvl="0" marL="0" rtl="0" algn="l">
              <a:lnSpc>
                <a:spcPct val="125000"/>
              </a:lnSpc>
              <a:spcBef>
                <a:spcPts val="0"/>
              </a:spcBef>
              <a:spcAft>
                <a:spcPts val="0"/>
              </a:spcAft>
              <a:buClr>
                <a:schemeClr val="dk1"/>
              </a:buClr>
              <a:buSzPts val="1100"/>
              <a:buFont typeface="Arial"/>
              <a:buNone/>
            </a:pPr>
            <a:r>
              <a:t/>
            </a:r>
            <a:endParaRPr sz="17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gtEl>
                                        <p:attrNameLst>
                                          <p:attrName>style.visibility</p:attrName>
                                        </p:attrNameLst>
                                      </p:cBhvr>
                                      <p:to>
                                        <p:strVal val="visible"/>
                                      </p:to>
                                    </p:set>
                                    <p:anim calcmode="lin" valueType="num">
                                      <p:cBhvr additive="base">
                                        <p:cTn dur="1000"/>
                                        <p:tgtEl>
                                          <p:spTgt spid="13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27"/>
          <p:cNvPicPr preferRelativeResize="0"/>
          <p:nvPr/>
        </p:nvPicPr>
        <p:blipFill>
          <a:blip r:embed="rId3">
            <a:alphaModFix/>
          </a:blip>
          <a:stretch>
            <a:fillRect/>
          </a:stretch>
        </p:blipFill>
        <p:spPr>
          <a:xfrm>
            <a:off x="-70400" y="0"/>
            <a:ext cx="9214402" cy="5143500"/>
          </a:xfrm>
          <a:prstGeom prst="rect">
            <a:avLst/>
          </a:prstGeom>
          <a:noFill/>
          <a:ln>
            <a:noFill/>
          </a:ln>
        </p:spPr>
      </p:pic>
      <p:sp>
        <p:nvSpPr>
          <p:cNvPr id="145" name="Google Shape;145;p27"/>
          <p:cNvSpPr txBox="1"/>
          <p:nvPr>
            <p:ph type="ctrTitle"/>
          </p:nvPr>
        </p:nvSpPr>
        <p:spPr>
          <a:xfrm>
            <a:off x="1163575" y="1937650"/>
            <a:ext cx="6919500" cy="1093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GB" sz="4600"/>
              <a:t>THANK YOU</a:t>
            </a:r>
            <a:endParaRPr b="1" sz="46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